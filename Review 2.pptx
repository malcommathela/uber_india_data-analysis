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74" r:id="rId6"/>
    <p:sldId id="279" r:id="rId7"/>
    <p:sldId id="276" r:id="rId8"/>
    <p:sldId id="280" r:id="rId9"/>
    <p:sldId id="278" r:id="rId10"/>
    <p:sldId id="271" r:id="rId11"/>
    <p:sldId id="281" r:id="rId12"/>
    <p:sldId id="283" r:id="rId13"/>
    <p:sldId id="286" r:id="rId14"/>
    <p:sldId id="287" r:id="rId15"/>
    <p:sldId id="285" r:id="rId16"/>
    <p:sldId id="284" r:id="rId17"/>
    <p:sldId id="268" r:id="rId18"/>
    <p:sldId id="269" r:id="rId19"/>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62" d="100"/>
          <a:sy n="62" d="100"/>
        </p:scale>
        <p:origin x="72" y="22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27-09-2026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pPr/>
              <a:t>10</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pPr/>
              <a:t>11</a:t>
            </a:fld>
            <a:endParaRPr lang="en-IN"/>
          </a:p>
        </p:txBody>
      </p:sp>
    </p:spTree>
    <p:extLst>
      <p:ext uri="{BB962C8B-B14F-4D97-AF65-F5344CB8AC3E}">
        <p14:creationId xmlns:p14="http://schemas.microsoft.com/office/powerpoint/2010/main" val="1527576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7E471F2-2083-493A-8C9E-53209FFA1EC8}" type="slidenum">
              <a:rPr lang="en-IN" smtClean="0"/>
              <a:pPr/>
              <a:t>18</a:t>
            </a:fld>
            <a:endParaRPr lang="en-IN"/>
          </a:p>
        </p:txBody>
      </p:sp>
    </p:spTree>
    <p:extLst>
      <p:ext uri="{BB962C8B-B14F-4D97-AF65-F5344CB8AC3E}">
        <p14:creationId xmlns:p14="http://schemas.microsoft.com/office/powerpoint/2010/main" val="1782700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09/27/2026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09/27/2026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09/27/2026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09/27/2026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09/27/2026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09/27/2026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TextBox 2"/>
          <p:cNvSpPr txBox="1"/>
          <p:nvPr/>
        </p:nvSpPr>
        <p:spPr>
          <a:xfrm>
            <a:off x="1463040" y="1051560"/>
            <a:ext cx="7315200" cy="523220"/>
          </a:xfrm>
          <a:prstGeom prst="rect">
            <a:avLst/>
          </a:prstGeom>
          <a:noFill/>
        </p:spPr>
        <p:txBody>
          <a:bodyPr wrap="square">
            <a:spAutoFit/>
          </a:bodyPr>
          <a:lstStyle/>
          <a:p>
            <a:pPr algn="ctr">
              <a:spcAft>
                <a:spcPts val="700"/>
              </a:spcAft>
              <a:defRPr sz="2500" b="1">
                <a:solidFill>
                  <a:srgbClr val="233464"/>
                </a:solidFill>
                <a:latin typeface="Aptos"/>
              </a:defRPr>
            </a:pPr>
            <a:r>
              <a:rPr sz="2800" dirty="0">
                <a:latin typeface="Times New Roman" pitchFamily="18" charset="0"/>
                <a:cs typeface="Times New Roman" pitchFamily="18" charset="0"/>
              </a:rPr>
              <a:t>Data Analysis Essentials</a:t>
            </a:r>
          </a:p>
        </p:txBody>
      </p:sp>
      <p:sp>
        <p:nvSpPr>
          <p:cNvPr id="4" name="TextBox 3"/>
          <p:cNvSpPr txBox="1"/>
          <p:nvPr/>
        </p:nvSpPr>
        <p:spPr>
          <a:xfrm>
            <a:off x="1463040" y="1508760"/>
            <a:ext cx="7315200" cy="446276"/>
          </a:xfrm>
          <a:prstGeom prst="rect">
            <a:avLst/>
          </a:prstGeom>
          <a:noFill/>
        </p:spPr>
        <p:txBody>
          <a:bodyPr wrap="square">
            <a:spAutoFit/>
          </a:bodyPr>
          <a:lstStyle/>
          <a:p>
            <a:pPr algn="ctr">
              <a:spcAft>
                <a:spcPts val="700"/>
              </a:spcAft>
              <a:defRPr sz="2300" b="1">
                <a:solidFill>
                  <a:srgbClr val="C25B30"/>
                </a:solidFill>
                <a:latin typeface="Aptos"/>
              </a:defRPr>
            </a:pPr>
            <a:r>
              <a:rPr dirty="0">
                <a:latin typeface="Times New Roman" pitchFamily="18" charset="0"/>
                <a:cs typeface="Times New Roman" pitchFamily="18" charset="0"/>
              </a:rPr>
              <a:t>Cornerstone Project</a:t>
            </a:r>
          </a:p>
        </p:txBody>
      </p:sp>
      <p:sp>
        <p:nvSpPr>
          <p:cNvPr id="5" name="TextBox 4"/>
          <p:cNvSpPr txBox="1"/>
          <p:nvPr/>
        </p:nvSpPr>
        <p:spPr>
          <a:xfrm>
            <a:off x="640080" y="2331720"/>
            <a:ext cx="8778240" cy="584775"/>
          </a:xfrm>
          <a:prstGeom prst="rect">
            <a:avLst/>
          </a:prstGeom>
          <a:noFill/>
        </p:spPr>
        <p:txBody>
          <a:bodyPr wrap="square">
            <a:spAutoFit/>
          </a:bodyPr>
          <a:lstStyle/>
          <a:p>
            <a:pPr algn="ctr">
              <a:spcAft>
                <a:spcPts val="700"/>
              </a:spcAft>
              <a:defRPr sz="3000" b="1">
                <a:solidFill>
                  <a:srgbClr val="233464"/>
                </a:solidFill>
                <a:latin typeface="Aptos"/>
              </a:defRPr>
            </a:pPr>
            <a:r>
              <a:rPr lang="en-GB" sz="3200" dirty="0">
                <a:latin typeface="Times New Roman" pitchFamily="18" charset="0"/>
                <a:cs typeface="Times New Roman" pitchFamily="18" charset="0"/>
              </a:rPr>
              <a:t>Uber India </a:t>
            </a:r>
            <a:r>
              <a:rPr sz="3200" dirty="0">
                <a:latin typeface="Times New Roman" pitchFamily="18" charset="0"/>
                <a:cs typeface="Times New Roman" pitchFamily="18" charset="0"/>
              </a:rPr>
              <a:t>Data Analysis</a:t>
            </a:r>
          </a:p>
        </p:txBody>
      </p:sp>
      <p:sp>
        <p:nvSpPr>
          <p:cNvPr id="7" name="TextBox 6"/>
          <p:cNvSpPr txBox="1"/>
          <p:nvPr/>
        </p:nvSpPr>
        <p:spPr>
          <a:xfrm>
            <a:off x="914400" y="3487591"/>
            <a:ext cx="7955279" cy="2387833"/>
          </a:xfrm>
          <a:prstGeom prst="rect">
            <a:avLst/>
          </a:prstGeom>
          <a:noFill/>
        </p:spPr>
        <p:txBody>
          <a:bodyPr wrap="square">
            <a:spAutoFit/>
          </a:bodyPr>
          <a:lstStyle/>
          <a:p>
            <a:pPr algn="ctr">
              <a:spcAft>
                <a:spcPts val="700"/>
              </a:spcAft>
              <a:defRPr sz="1400" b="0">
                <a:solidFill>
                  <a:srgbClr val="2D2D2D"/>
                </a:solidFill>
                <a:latin typeface="Aptos"/>
              </a:defRPr>
            </a:pPr>
            <a:r>
              <a:rPr sz="2400" b="1" dirty="0">
                <a:solidFill>
                  <a:srgbClr val="FF0000"/>
                </a:solidFill>
                <a:latin typeface="Times New Roman" pitchFamily="18" charset="0"/>
                <a:cs typeface="Times New Roman" pitchFamily="18" charset="0"/>
              </a:rPr>
              <a:t>Presented by</a:t>
            </a:r>
          </a:p>
          <a:p>
            <a:pPr algn="ctr">
              <a:spcAft>
                <a:spcPts val="700"/>
              </a:spcAft>
              <a:defRPr sz="1400" b="0">
                <a:solidFill>
                  <a:srgbClr val="2D2D2D"/>
                </a:solidFill>
                <a:latin typeface="Aptos"/>
              </a:defRPr>
            </a:pPr>
            <a:r>
              <a:rPr lang="en-GB" sz="2000" b="1" dirty="0">
                <a:latin typeface="Times New Roman" pitchFamily="18" charset="0"/>
                <a:cs typeface="Times New Roman" pitchFamily="18" charset="0"/>
              </a:rPr>
              <a:t>Malcom Mathela</a:t>
            </a:r>
            <a:r>
              <a:rPr sz="2000" b="1" dirty="0">
                <a:latin typeface="Times New Roman" pitchFamily="18" charset="0"/>
                <a:cs typeface="Times New Roman" pitchFamily="18" charset="0"/>
              </a:rPr>
              <a:t> (</a:t>
            </a:r>
            <a:r>
              <a:rPr lang="en-GB" sz="2000" b="1" dirty="0">
                <a:latin typeface="Times New Roman" pitchFamily="18" charset="0"/>
                <a:cs typeface="Times New Roman" pitchFamily="18" charset="0"/>
              </a:rPr>
              <a:t>25B11CSA68</a:t>
            </a:r>
            <a:r>
              <a:rPr sz="2000" b="1" dirty="0">
                <a:latin typeface="Times New Roman" pitchFamily="18" charset="0"/>
                <a:cs typeface="Times New Roman" pitchFamily="18" charset="0"/>
              </a:rPr>
              <a:t>)</a:t>
            </a:r>
          </a:p>
          <a:p>
            <a:pPr algn="ctr">
              <a:spcAft>
                <a:spcPts val="700"/>
              </a:spcAft>
              <a:defRPr sz="1400" b="0">
                <a:solidFill>
                  <a:srgbClr val="2D2D2D"/>
                </a:solidFill>
                <a:latin typeface="Aptos"/>
              </a:defRPr>
            </a:pPr>
            <a:r>
              <a:rPr lang="en-GB" sz="2000" b="1" dirty="0">
                <a:latin typeface="Times New Roman" pitchFamily="18" charset="0"/>
                <a:cs typeface="Times New Roman" pitchFamily="18" charset="0"/>
              </a:rPr>
              <a:t>Tirupathi Jeevana </a:t>
            </a:r>
            <a:r>
              <a:rPr lang="en-GB" sz="2000" b="1" dirty="0" err="1">
                <a:latin typeface="Times New Roman" pitchFamily="18" charset="0"/>
                <a:cs typeface="Times New Roman" pitchFamily="18" charset="0"/>
              </a:rPr>
              <a:t>sruthi</a:t>
            </a:r>
            <a:r>
              <a:rPr sz="2000" b="1" dirty="0">
                <a:latin typeface="Times New Roman" pitchFamily="18" charset="0"/>
                <a:cs typeface="Times New Roman" pitchFamily="18" charset="0"/>
              </a:rPr>
              <a:t> (</a:t>
            </a:r>
            <a:r>
              <a:rPr lang="en-GB" sz="2000" b="1" dirty="0">
                <a:latin typeface="Times New Roman" pitchFamily="18" charset="0"/>
                <a:cs typeface="Times New Roman" pitchFamily="18" charset="0"/>
              </a:rPr>
              <a:t>25B11CS353</a:t>
            </a:r>
            <a:r>
              <a:rPr sz="2000" b="1" dirty="0">
                <a:latin typeface="Times New Roman" pitchFamily="18" charset="0"/>
                <a:cs typeface="Times New Roman" pitchFamily="18" charset="0"/>
              </a:rPr>
              <a:t>)</a:t>
            </a:r>
          </a:p>
          <a:p>
            <a:pPr algn="ctr">
              <a:spcAft>
                <a:spcPts val="700"/>
              </a:spcAft>
              <a:defRPr sz="1400" b="0">
                <a:solidFill>
                  <a:srgbClr val="2D2D2D"/>
                </a:solidFill>
                <a:latin typeface="Aptos"/>
              </a:defRPr>
            </a:pPr>
            <a:r>
              <a:rPr lang="en-GB" sz="2000" b="1" dirty="0" err="1">
                <a:latin typeface="Times New Roman" pitchFamily="18" charset="0"/>
                <a:cs typeface="Times New Roman" pitchFamily="18" charset="0"/>
              </a:rPr>
              <a:t>N.venkata.sai.charan</a:t>
            </a:r>
            <a:r>
              <a:rPr sz="2000" b="1" dirty="0">
                <a:latin typeface="Times New Roman" pitchFamily="18" charset="0"/>
                <a:cs typeface="Times New Roman" pitchFamily="18" charset="0"/>
              </a:rPr>
              <a:t> (</a:t>
            </a:r>
            <a:r>
              <a:rPr lang="en-GB" sz="2000" b="1" dirty="0">
                <a:latin typeface="Times New Roman" pitchFamily="18" charset="0"/>
                <a:cs typeface="Times New Roman" pitchFamily="18" charset="0"/>
              </a:rPr>
              <a:t>25B11CS672</a:t>
            </a:r>
            <a:r>
              <a:rPr sz="2000" b="1" dirty="0">
                <a:latin typeface="Times New Roman" pitchFamily="18" charset="0"/>
                <a:cs typeface="Times New Roman" pitchFamily="18" charset="0"/>
              </a:rPr>
              <a:t>)</a:t>
            </a:r>
          </a:p>
          <a:p>
            <a:pPr algn="ctr">
              <a:spcAft>
                <a:spcPts val="700"/>
              </a:spcAft>
              <a:defRPr sz="1400" b="0">
                <a:solidFill>
                  <a:srgbClr val="2D2D2D"/>
                </a:solidFill>
                <a:latin typeface="Aptos"/>
              </a:defRPr>
            </a:pPr>
            <a:r>
              <a:rPr lang="en-GB" sz="2000" b="1" dirty="0">
                <a:latin typeface="Times New Roman" pitchFamily="18" charset="0"/>
                <a:cs typeface="Times New Roman" pitchFamily="18" charset="0"/>
              </a:rPr>
              <a:t>Shylene Nhongo</a:t>
            </a:r>
            <a:r>
              <a:rPr sz="2000" b="1" dirty="0">
                <a:latin typeface="Times New Roman" pitchFamily="18" charset="0"/>
                <a:cs typeface="Times New Roman" pitchFamily="18" charset="0"/>
              </a:rPr>
              <a:t> (</a:t>
            </a:r>
            <a:r>
              <a:rPr lang="en-GB" sz="2000" b="1" dirty="0">
                <a:latin typeface="Times New Roman" pitchFamily="18" charset="0"/>
                <a:cs typeface="Times New Roman" pitchFamily="18" charset="0"/>
              </a:rPr>
              <a:t>25B11CSA73</a:t>
            </a:r>
            <a:r>
              <a:rPr sz="2000" b="1" dirty="0">
                <a:latin typeface="Times New Roman" pitchFamily="18" charset="0"/>
                <a:cs typeface="Times New Roman" pitchFamily="18" charset="0"/>
              </a:rPr>
              <a:t>)</a:t>
            </a:r>
          </a:p>
          <a:p>
            <a:pPr algn="ctr">
              <a:spcAft>
                <a:spcPts val="700"/>
              </a:spcAft>
              <a:defRPr sz="1400" b="0">
                <a:solidFill>
                  <a:srgbClr val="2D2D2D"/>
                </a:solidFill>
                <a:latin typeface="Aptos"/>
              </a:defRPr>
            </a:pPr>
            <a:r>
              <a:rPr sz="1600" b="1" dirty="0">
                <a:latin typeface="Times New Roman" pitchFamily="18" charset="0"/>
                <a:cs typeface="Times New Roman" pitchFamily="18" charset="0"/>
              </a:rPr>
              <a:t>Guide: Mr. K. Ashok Teja, Assistant Professor, CSE Dept.</a:t>
            </a:r>
          </a:p>
        </p:txBody>
      </p:sp>
      <p:sp>
        <p:nvSpPr>
          <p:cNvPr id="8" name="TextBox 7"/>
          <p:cNvSpPr txBox="1"/>
          <p:nvPr/>
        </p:nvSpPr>
        <p:spPr>
          <a:xfrm>
            <a:off x="914400" y="6446520"/>
            <a:ext cx="8229600" cy="400110"/>
          </a:xfrm>
          <a:prstGeom prst="rect">
            <a:avLst/>
          </a:prstGeom>
          <a:noFill/>
        </p:spPr>
        <p:txBody>
          <a:bodyPr wrap="square">
            <a:spAutoFit/>
          </a:bodyPr>
          <a:lstStyle/>
          <a:p>
            <a:pPr algn="ctr">
              <a:spcAft>
                <a:spcPts val="700"/>
              </a:spcAft>
              <a:defRPr sz="1300" b="1">
                <a:solidFill>
                  <a:srgbClr val="233464"/>
                </a:solidFill>
                <a:latin typeface="Aptos"/>
              </a:defRPr>
            </a:pPr>
            <a:r>
              <a:rPr sz="2000" dirty="0">
                <a:latin typeface="Times New Roman" pitchFamily="18" charset="0"/>
                <a:cs typeface="Times New Roman" pitchFamily="18" charset="0"/>
              </a:rPr>
              <a:t>Department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p:cNvSpPr txBox="1"/>
          <p:nvPr/>
        </p:nvSpPr>
        <p:spPr>
          <a:xfrm>
            <a:off x="2545080" y="269414"/>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Contents</a:t>
            </a:r>
            <a:endParaRPr dirty="0">
              <a:solidFill>
                <a:schemeClr val="bg1"/>
              </a:solidFill>
              <a:latin typeface="Times New Roman" pitchFamily="18" charset="0"/>
              <a:cs typeface="Times New Roman" pitchFamily="18" charset="0"/>
            </a:endParaRPr>
          </a:p>
        </p:txBody>
      </p:sp>
      <p:sp>
        <p:nvSpPr>
          <p:cNvPr id="11" name="TextBox 10"/>
          <p:cNvSpPr txBox="1"/>
          <p:nvPr/>
        </p:nvSpPr>
        <p:spPr>
          <a:xfrm>
            <a:off x="1219200" y="1676400"/>
            <a:ext cx="7132320" cy="5052665"/>
          </a:xfrm>
          <a:prstGeom prst="rect">
            <a:avLst/>
          </a:prstGeom>
          <a:noFill/>
        </p:spPr>
        <p:txBody>
          <a:bodyPr wrap="square">
            <a:spAutoFit/>
          </a:bodyPr>
          <a:lstStyle/>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Problem Understanding</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Introduction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Current Approach &amp; Limitations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Proposed Approach</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Dataset Description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Requirements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Methodology</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Data Visualization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Key Insights &amp; Analysis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Implementation Workflow</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2667000" y="304800"/>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PROBLEM UNDERSTANDING</a:t>
            </a:r>
          </a:p>
        </p:txBody>
      </p:sp>
      <p:sp>
        <p:nvSpPr>
          <p:cNvPr id="12" name="TextBox 11"/>
          <p:cNvSpPr txBox="1"/>
          <p:nvPr/>
        </p:nvSpPr>
        <p:spPr>
          <a:xfrm>
            <a:off x="609600" y="1524000"/>
            <a:ext cx="8686800" cy="3108543"/>
          </a:xfrm>
          <a:prstGeom prst="rect">
            <a:avLst/>
          </a:prstGeom>
          <a:noFill/>
        </p:spPr>
        <p:txBody>
          <a:bodyPr wrap="square">
            <a:spAutoFit/>
          </a:bodyPr>
          <a:lstStyle/>
          <a:p>
            <a:pPr algn="just">
              <a:spcAft>
                <a:spcPts val="700"/>
              </a:spcAft>
              <a:defRPr sz="1900" b="0">
                <a:solidFill>
                  <a:srgbClr val="2D2D2D"/>
                </a:solidFill>
                <a:latin typeface="Aptos"/>
              </a:defRPr>
            </a:pPr>
            <a:r>
              <a:rPr lang="en-GB" sz="2800" dirty="0">
                <a:latin typeface="Times New Roman" panose="02020603050405020304" pitchFamily="18" charset="0"/>
                <a:cs typeface="Times New Roman" panose="02020603050405020304" pitchFamily="18" charset="0"/>
              </a:rPr>
              <a:t>A lot of ride data is produced by Uber, and therefore it becomes difficult to find useful patterns from the unprocessed records. In this project, Exploratory Data Analysis (EDA) will be performed on Uber India ride data in Python in an attempt to extract meaningful trends from the data based on demand, fares, distances travelled, location, and customer behaviour.</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0"/>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468880" y="21633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Introduction</a:t>
            </a:r>
          </a:p>
        </p:txBody>
      </p:sp>
      <p:sp>
        <p:nvSpPr>
          <p:cNvPr id="19" name="TextBox 18"/>
          <p:cNvSpPr txBox="1"/>
          <p:nvPr/>
        </p:nvSpPr>
        <p:spPr>
          <a:xfrm>
            <a:off x="290750" y="1417320"/>
            <a:ext cx="9173290" cy="4850046"/>
          </a:xfrm>
          <a:prstGeom prst="rect">
            <a:avLst/>
          </a:prstGeom>
          <a:noFill/>
        </p:spPr>
        <p:txBody>
          <a:bodyPr wrap="square">
            <a:spAutoFit/>
          </a:bodyPr>
          <a:lstStyle/>
          <a:p>
            <a:pPr marL="457200" indent="-457200" algn="l">
              <a:spcAft>
                <a:spcPts val="700"/>
              </a:spcAft>
              <a:buFont typeface="Arial" panose="020B0604020202020204" pitchFamily="34" charset="0"/>
              <a:buChar char="•"/>
              <a:defRPr sz="1900" b="0">
                <a:solidFill>
                  <a:srgbClr val="2D2D2D"/>
                </a:solidFill>
                <a:latin typeface="Aptos"/>
              </a:defRPr>
            </a:pPr>
            <a:r>
              <a:rPr lang="en-GB" sz="2800" dirty="0">
                <a:latin typeface="Times New Roman" panose="02020603050405020304" pitchFamily="18" charset="0"/>
                <a:cs typeface="Times New Roman" panose="02020603050405020304" pitchFamily="18" charset="0"/>
              </a:rPr>
              <a:t>Uber produces significant amounts of data about its rides, fares, locations, and customers' behaviour.</a:t>
            </a:r>
          </a:p>
          <a:p>
            <a:pPr marL="457200" indent="-457200" algn="l">
              <a:spcAft>
                <a:spcPts val="700"/>
              </a:spcAft>
              <a:buFont typeface="Arial" panose="020B0604020202020204" pitchFamily="34" charset="0"/>
              <a:buChar char="•"/>
              <a:defRPr sz="1900" b="0">
                <a:solidFill>
                  <a:srgbClr val="2D2D2D"/>
                </a:solidFill>
                <a:latin typeface="Aptos"/>
              </a:defRPr>
            </a:pPr>
            <a:r>
              <a:rPr lang="en-GB" sz="2800" dirty="0">
                <a:latin typeface="Times New Roman" panose="02020603050405020304" pitchFamily="18" charset="0"/>
                <a:cs typeface="Times New Roman" panose="02020603050405020304" pitchFamily="18" charset="0"/>
              </a:rPr>
              <a:t>The raw data on rides may include missing data, duplicates, and formatting inconsistencies.</a:t>
            </a:r>
          </a:p>
          <a:p>
            <a:pPr marL="457200" indent="-457200" algn="l">
              <a:spcAft>
                <a:spcPts val="700"/>
              </a:spcAft>
              <a:buFont typeface="Arial" panose="020B0604020202020204" pitchFamily="34" charset="0"/>
              <a:buChar char="•"/>
              <a:defRPr sz="1900" b="0">
                <a:solidFill>
                  <a:srgbClr val="2D2D2D"/>
                </a:solidFill>
                <a:latin typeface="Aptos"/>
              </a:defRPr>
            </a:pPr>
            <a:r>
              <a:rPr lang="en-GB" sz="2800" dirty="0">
                <a:latin typeface="Times New Roman" panose="02020603050405020304" pitchFamily="18" charset="0"/>
                <a:cs typeface="Times New Roman" panose="02020603050405020304" pitchFamily="18" charset="0"/>
              </a:rPr>
              <a:t>The analysis is performed to help make sense of the data.</a:t>
            </a:r>
          </a:p>
          <a:p>
            <a:pPr marL="457200" indent="-457200" algn="l">
              <a:spcAft>
                <a:spcPts val="700"/>
              </a:spcAft>
              <a:buFont typeface="Arial" panose="020B0604020202020204" pitchFamily="34" charset="0"/>
              <a:buChar char="•"/>
              <a:defRPr sz="1900" b="0">
                <a:solidFill>
                  <a:srgbClr val="2D2D2D"/>
                </a:solidFill>
                <a:latin typeface="Aptos"/>
              </a:defRPr>
            </a:pPr>
            <a:r>
              <a:rPr lang="en-GB" sz="2800" dirty="0">
                <a:latin typeface="Times New Roman" panose="02020603050405020304" pitchFamily="18" charset="0"/>
                <a:cs typeface="Times New Roman" panose="02020603050405020304" pitchFamily="18" charset="0"/>
              </a:rPr>
              <a:t>This work relies on Python libraries such as Pandas, NumPy, Matplotlib, and Seaborn.</a:t>
            </a:r>
          </a:p>
          <a:p>
            <a:pPr marL="457200" indent="-457200" algn="l">
              <a:spcAft>
                <a:spcPts val="700"/>
              </a:spcAft>
              <a:buFont typeface="Arial" panose="020B0604020202020204" pitchFamily="34" charset="0"/>
              <a:buChar char="•"/>
              <a:defRPr sz="1900" b="0">
                <a:solidFill>
                  <a:srgbClr val="2D2D2D"/>
                </a:solidFill>
                <a:latin typeface="Aptos"/>
              </a:defRPr>
            </a:pPr>
            <a:r>
              <a:rPr lang="en-GB" sz="2800" dirty="0">
                <a:latin typeface="Times New Roman" panose="02020603050405020304" pitchFamily="18" charset="0"/>
                <a:cs typeface="Times New Roman" panose="02020603050405020304" pitchFamily="18" charset="0"/>
              </a:rPr>
              <a:t>The analysis reveals patterns in rides, fares, distances, and locations.</a:t>
            </a:r>
          </a:p>
          <a:p>
            <a:pPr marL="457200" indent="-457200" algn="l">
              <a:spcAft>
                <a:spcPts val="700"/>
              </a:spcAft>
              <a:buFont typeface="Arial" panose="020B0604020202020204" pitchFamily="34" charset="0"/>
              <a:buChar char="•"/>
              <a:defRPr sz="1900" b="0">
                <a:solidFill>
                  <a:srgbClr val="2D2D2D"/>
                </a:solidFill>
                <a:latin typeface="Aptos"/>
              </a:defRPr>
            </a:pPr>
            <a:r>
              <a:rPr lang="en-GB" sz="2800" dirty="0">
                <a:latin typeface="Times New Roman" panose="02020603050405020304" pitchFamily="18" charset="0"/>
                <a:cs typeface="Times New Roman" panose="02020603050405020304" pitchFamily="18" charset="0"/>
              </a:rPr>
              <a:t>Visualizations make the findings more easily interpretable.</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667000" y="304800"/>
            <a:ext cx="518160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Current / Manual Approach</a:t>
            </a:r>
          </a:p>
        </p:txBody>
      </p:sp>
      <p:sp>
        <p:nvSpPr>
          <p:cNvPr id="19" name="TextBox 18"/>
          <p:cNvSpPr txBox="1"/>
          <p:nvPr/>
        </p:nvSpPr>
        <p:spPr>
          <a:xfrm>
            <a:off x="685800" y="1417320"/>
            <a:ext cx="8778240" cy="4850046"/>
          </a:xfrm>
          <a:prstGeom prst="rect">
            <a:avLst/>
          </a:prstGeom>
          <a:noFill/>
        </p:spPr>
        <p:txBody>
          <a:bodyPr wrap="square">
            <a:spAutoFit/>
          </a:bodyPr>
          <a:lstStyle/>
          <a:p>
            <a:pPr marL="457200" indent="-457200" algn="l">
              <a:spcAft>
                <a:spcPts val="700"/>
              </a:spcAft>
              <a:buFont typeface="Arial" panose="020B0604020202020204" pitchFamily="34" charset="0"/>
              <a:buChar char="•"/>
              <a:defRPr sz="1900" b="0">
                <a:solidFill>
                  <a:srgbClr val="2D2D2D"/>
                </a:solidFill>
                <a:latin typeface="Aptos"/>
              </a:defRPr>
            </a:pPr>
            <a:r>
              <a:rPr lang="en-GB" sz="2800" dirty="0">
                <a:latin typeface="Times New Roman" panose="02020603050405020304" pitchFamily="18" charset="0"/>
                <a:cs typeface="Times New Roman" panose="02020603050405020304" pitchFamily="18" charset="0"/>
              </a:rPr>
              <a:t>Ride information from Uber is typically saved in CSV format, spreadsheets, or database formats.</a:t>
            </a:r>
          </a:p>
          <a:p>
            <a:pPr marL="457200" indent="-457200" algn="l">
              <a:spcAft>
                <a:spcPts val="700"/>
              </a:spcAft>
              <a:buFont typeface="Arial" panose="020B0604020202020204" pitchFamily="34" charset="0"/>
              <a:buChar char="•"/>
              <a:defRPr sz="1900" b="0">
                <a:solidFill>
                  <a:srgbClr val="2D2D2D"/>
                </a:solidFill>
                <a:latin typeface="Aptos"/>
              </a:defRPr>
            </a:pPr>
            <a:r>
              <a:rPr lang="en-GB" sz="2800" dirty="0">
                <a:latin typeface="Times New Roman" panose="02020603050405020304" pitchFamily="18" charset="0"/>
                <a:cs typeface="Times New Roman" panose="02020603050405020304" pitchFamily="18" charset="0"/>
              </a:rPr>
              <a:t>Analysing huge amounts of data manually can be both time-consuming and inefficient.</a:t>
            </a:r>
          </a:p>
          <a:p>
            <a:pPr marL="457200" indent="-457200" algn="l">
              <a:spcAft>
                <a:spcPts val="700"/>
              </a:spcAft>
              <a:buFont typeface="Arial" panose="020B0604020202020204" pitchFamily="34" charset="0"/>
              <a:buChar char="•"/>
              <a:defRPr sz="1900" b="0">
                <a:solidFill>
                  <a:srgbClr val="2D2D2D"/>
                </a:solidFill>
                <a:latin typeface="Aptos"/>
              </a:defRPr>
            </a:pPr>
            <a:r>
              <a:rPr lang="en-GB" sz="2800" dirty="0">
                <a:latin typeface="Times New Roman" panose="02020603050405020304" pitchFamily="18" charset="0"/>
                <a:cs typeface="Times New Roman" panose="02020603050405020304" pitchFamily="18" charset="0"/>
              </a:rPr>
              <a:t>Spotting patterns between rides, costs, distances, and locations can be quite challenging when done manually.</a:t>
            </a:r>
          </a:p>
          <a:p>
            <a:pPr marL="457200" indent="-457200" algn="l">
              <a:spcAft>
                <a:spcPts val="700"/>
              </a:spcAft>
              <a:buFont typeface="Arial" panose="020B0604020202020204" pitchFamily="34" charset="0"/>
              <a:buChar char="•"/>
              <a:defRPr sz="1900" b="0">
                <a:solidFill>
                  <a:srgbClr val="2D2D2D"/>
                </a:solidFill>
                <a:latin typeface="Aptos"/>
              </a:defRPr>
            </a:pPr>
            <a:r>
              <a:rPr lang="en-GB" sz="2800" dirty="0">
                <a:latin typeface="Times New Roman" panose="02020603050405020304" pitchFamily="18" charset="0"/>
                <a:cs typeface="Times New Roman" panose="02020603050405020304" pitchFamily="18" charset="0"/>
              </a:rPr>
              <a:t>Unwanted gaps, duplicate entries, and inconsistent information could easily go unnoticed.</a:t>
            </a:r>
          </a:p>
          <a:p>
            <a:pPr marL="457200" indent="-457200" algn="l">
              <a:spcAft>
                <a:spcPts val="700"/>
              </a:spcAft>
              <a:buFont typeface="Arial" panose="020B0604020202020204" pitchFamily="34" charset="0"/>
              <a:buChar char="•"/>
              <a:defRPr sz="1900" b="0">
                <a:solidFill>
                  <a:srgbClr val="2D2D2D"/>
                </a:solidFill>
                <a:latin typeface="Aptos"/>
              </a:defRPr>
            </a:pPr>
            <a:r>
              <a:rPr lang="en-GB" sz="2800" dirty="0">
                <a:latin typeface="Times New Roman" panose="02020603050405020304" pitchFamily="18" charset="0"/>
                <a:cs typeface="Times New Roman" panose="02020603050405020304" pitchFamily="18" charset="0"/>
              </a:rPr>
              <a:t>Tables alone will not reveal any insights until we visualize them in graphical form.</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5B758792-840A-895D-A2CD-A09955CC1720}"/>
              </a:ext>
            </a:extLst>
          </p:cNvPr>
          <p:cNvGrpSpPr/>
          <p:nvPr/>
        </p:nvGrpSpPr>
        <p:grpSpPr>
          <a:xfrm>
            <a:off x="2743200" y="0"/>
            <a:ext cx="5103904" cy="1198311"/>
            <a:chOff x="2648188" y="47148"/>
            <a:chExt cx="5103904" cy="1198311"/>
          </a:xfrm>
        </p:grpSpPr>
        <p:pic>
          <p:nvPicPr>
            <p:cNvPr id="3" name="object 4">
              <a:extLst>
                <a:ext uri="{FF2B5EF4-FFF2-40B4-BE49-F238E27FC236}">
                  <a16:creationId xmlns:a16="http://schemas.microsoft.com/office/drawing/2014/main" id="{E290B6E4-4C6A-D92F-FFFC-B388B7843517}"/>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7F4EE37-279F-308C-F87F-6E638DA19370}"/>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8ED23BED-35EB-2EF2-62D6-17D1E3CB000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2F06FBF5-D468-2472-2E09-3659EB0BF5E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43200" y="256032"/>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Limitations of Manual Analysis</a:t>
            </a:r>
          </a:p>
        </p:txBody>
      </p:sp>
      <p:sp>
        <p:nvSpPr>
          <p:cNvPr id="19" name="TextBox 18"/>
          <p:cNvSpPr txBox="1"/>
          <p:nvPr/>
        </p:nvSpPr>
        <p:spPr>
          <a:xfrm>
            <a:off x="685800" y="1325880"/>
            <a:ext cx="8778240" cy="5370701"/>
          </a:xfrm>
          <a:prstGeom prst="rect">
            <a:avLst/>
          </a:prstGeom>
          <a:noFill/>
        </p:spPr>
        <p:txBody>
          <a:bodyPr wrap="square">
            <a:spAutoFit/>
          </a:bodyPr>
          <a:lstStyle/>
          <a:p>
            <a:pPr marL="457200" indent="-457200" algn="l">
              <a:spcAft>
                <a:spcPts val="700"/>
              </a:spcAft>
              <a:buFont typeface="Arial" panose="020B0604020202020204" pitchFamily="34" charset="0"/>
              <a:buChar char="•"/>
              <a:defRPr sz="1800" b="0">
                <a:solidFill>
                  <a:srgbClr val="2D2D2D"/>
                </a:solidFill>
                <a:latin typeface="Aptos"/>
              </a:defRPr>
            </a:pPr>
            <a:r>
              <a:rPr lang="en-GB" sz="2800" dirty="0">
                <a:latin typeface="Times New Roman" panose="02020603050405020304" pitchFamily="18" charset="0"/>
                <a:cs typeface="Times New Roman" panose="02020603050405020304" pitchFamily="18" charset="0"/>
              </a:rPr>
              <a:t>Manual analysis is very cumbersome and not scalable.</a:t>
            </a:r>
          </a:p>
          <a:p>
            <a:pPr marL="457200" indent="-457200" algn="l">
              <a:spcAft>
                <a:spcPts val="700"/>
              </a:spcAft>
              <a:buFont typeface="Arial" panose="020B0604020202020204" pitchFamily="34" charset="0"/>
              <a:buChar char="•"/>
              <a:defRPr sz="1800" b="0">
                <a:solidFill>
                  <a:srgbClr val="2D2D2D"/>
                </a:solidFill>
                <a:latin typeface="Aptos"/>
              </a:defRPr>
            </a:pPr>
            <a:r>
              <a:rPr lang="en-GB" sz="2800" dirty="0">
                <a:latin typeface="Times New Roman" panose="02020603050405020304" pitchFamily="18" charset="0"/>
                <a:cs typeface="Times New Roman" panose="02020603050405020304" pitchFamily="18" charset="0"/>
              </a:rPr>
              <a:t>The large Uber datasets cannot be analysed without automation.</a:t>
            </a:r>
          </a:p>
          <a:p>
            <a:pPr marL="457200" indent="-457200" algn="l">
              <a:spcAft>
                <a:spcPts val="700"/>
              </a:spcAft>
              <a:buFont typeface="Arial" panose="020B0604020202020204" pitchFamily="34" charset="0"/>
              <a:buChar char="•"/>
              <a:defRPr sz="1800" b="0">
                <a:solidFill>
                  <a:srgbClr val="2D2D2D"/>
                </a:solidFill>
                <a:latin typeface="Aptos"/>
              </a:defRPr>
            </a:pPr>
            <a:r>
              <a:rPr lang="en-GB" sz="2800" dirty="0">
                <a:latin typeface="Times New Roman" panose="02020603050405020304" pitchFamily="18" charset="0"/>
                <a:cs typeface="Times New Roman" panose="02020603050405020304" pitchFamily="18" charset="0"/>
              </a:rPr>
              <a:t>Missing and duplicate entries can impact the result.</a:t>
            </a:r>
          </a:p>
          <a:p>
            <a:pPr marL="457200" indent="-457200" algn="l">
              <a:spcAft>
                <a:spcPts val="700"/>
              </a:spcAft>
              <a:buFont typeface="Arial" panose="020B0604020202020204" pitchFamily="34" charset="0"/>
              <a:buChar char="•"/>
              <a:defRPr sz="1800" b="0">
                <a:solidFill>
                  <a:srgbClr val="2D2D2D"/>
                </a:solidFill>
                <a:latin typeface="Aptos"/>
              </a:defRPr>
            </a:pPr>
            <a:r>
              <a:rPr lang="en-GB" sz="2800" dirty="0">
                <a:latin typeface="Times New Roman" panose="02020603050405020304" pitchFamily="18" charset="0"/>
                <a:cs typeface="Times New Roman" panose="02020603050405020304" pitchFamily="18" charset="0"/>
              </a:rPr>
              <a:t>Identifying patterns is a difficult task without software assistance.</a:t>
            </a:r>
          </a:p>
          <a:p>
            <a:pPr marL="457200" indent="-457200" algn="l">
              <a:spcAft>
                <a:spcPts val="700"/>
              </a:spcAft>
              <a:buFont typeface="Arial" panose="020B0604020202020204" pitchFamily="34" charset="0"/>
              <a:buChar char="•"/>
              <a:defRPr sz="1800" b="0">
                <a:solidFill>
                  <a:srgbClr val="2D2D2D"/>
                </a:solidFill>
                <a:latin typeface="Aptos"/>
              </a:defRPr>
            </a:pPr>
            <a:r>
              <a:rPr lang="en-GB" sz="2800" dirty="0">
                <a:latin typeface="Times New Roman" panose="02020603050405020304" pitchFamily="18" charset="0"/>
                <a:cs typeface="Times New Roman" panose="02020603050405020304" pitchFamily="18" charset="0"/>
              </a:rPr>
              <a:t>Identification of outliers and associations requires the use of statistics.</a:t>
            </a:r>
          </a:p>
          <a:p>
            <a:pPr marL="457200" indent="-457200" algn="l">
              <a:spcAft>
                <a:spcPts val="700"/>
              </a:spcAft>
              <a:buFont typeface="Arial" panose="020B0604020202020204" pitchFamily="34" charset="0"/>
              <a:buChar char="•"/>
              <a:defRPr sz="1800" b="0">
                <a:solidFill>
                  <a:srgbClr val="2D2D2D"/>
                </a:solidFill>
                <a:latin typeface="Aptos"/>
              </a:defRPr>
            </a:pPr>
            <a:r>
              <a:rPr lang="en-GB" sz="2800" dirty="0">
                <a:latin typeface="Times New Roman" panose="02020603050405020304" pitchFamily="18" charset="0"/>
                <a:cs typeface="Times New Roman" panose="02020603050405020304" pitchFamily="18" charset="0"/>
              </a:rPr>
              <a:t>Manually processing increases chances of making errors.</a:t>
            </a:r>
          </a:p>
          <a:p>
            <a:pPr marL="457200" indent="-457200" algn="l">
              <a:spcAft>
                <a:spcPts val="700"/>
              </a:spcAft>
              <a:buFont typeface="Arial" panose="020B0604020202020204" pitchFamily="34" charset="0"/>
              <a:buChar char="•"/>
              <a:defRPr sz="1800" b="0">
                <a:solidFill>
                  <a:srgbClr val="2D2D2D"/>
                </a:solidFill>
                <a:latin typeface="Aptos"/>
              </a:defRPr>
            </a:pPr>
            <a:r>
              <a:rPr lang="en-GB" sz="2800" dirty="0">
                <a:latin typeface="Times New Roman" panose="02020603050405020304" pitchFamily="18" charset="0"/>
                <a:cs typeface="Times New Roman" panose="02020603050405020304" pitchFamily="18" charset="0"/>
              </a:rPr>
              <a:t>Visualization is limited when the analysis is done manually.</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633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object 3">
            <a:extLst>
              <a:ext uri="{FF2B5EF4-FFF2-40B4-BE49-F238E27FC236}">
                <a16:creationId xmlns:a16="http://schemas.microsoft.com/office/drawing/2014/main" id="{EED75953-77B8-EB79-983F-0DFB76BE35E9}"/>
              </a:ext>
            </a:extLst>
          </p:cNvPr>
          <p:cNvPicPr/>
          <p:nvPr/>
        </p:nvPicPr>
        <p:blipFill>
          <a:blip r:embed="rId2" cstate="print"/>
          <a:stretch>
            <a:fillRect/>
          </a:stretch>
        </p:blipFill>
        <p:spPr>
          <a:xfrm>
            <a:off x="290750" y="204311"/>
            <a:ext cx="1163002" cy="424338"/>
          </a:xfrm>
          <a:prstGeom prst="rect">
            <a:avLst/>
          </a:prstGeom>
        </p:spPr>
      </p:pic>
      <p:grpSp>
        <p:nvGrpSpPr>
          <p:cNvPr id="3" name="object 3">
            <a:extLst>
              <a:ext uri="{FF2B5EF4-FFF2-40B4-BE49-F238E27FC236}">
                <a16:creationId xmlns:a16="http://schemas.microsoft.com/office/drawing/2014/main" id="{39A132B5-7282-BB0D-41D0-2D605FAF9D2A}"/>
              </a:ext>
            </a:extLst>
          </p:cNvPr>
          <p:cNvGrpSpPr/>
          <p:nvPr/>
        </p:nvGrpSpPr>
        <p:grpSpPr>
          <a:xfrm>
            <a:off x="2743200" y="228600"/>
            <a:ext cx="4997767" cy="1092279"/>
            <a:chOff x="2703195" y="86439"/>
            <a:chExt cx="4997767" cy="1092279"/>
          </a:xfrm>
        </p:grpSpPr>
        <p:pic>
          <p:nvPicPr>
            <p:cNvPr id="5" name="object 5">
              <a:extLst>
                <a:ext uri="{FF2B5EF4-FFF2-40B4-BE49-F238E27FC236}">
                  <a16:creationId xmlns:a16="http://schemas.microsoft.com/office/drawing/2014/main" id="{19E5F2C6-879E-09C8-70D8-F12E4105BA45}"/>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12F6F0F7-7EC3-7119-588E-9CA45688A5E4}"/>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6FF94120-5DAA-BA86-6F61-CE59BF796C6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43200" y="374808"/>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Proposed Approach</a:t>
            </a:r>
          </a:p>
        </p:txBody>
      </p:sp>
      <p:sp>
        <p:nvSpPr>
          <p:cNvPr id="19" name="TextBox 18"/>
          <p:cNvSpPr txBox="1"/>
          <p:nvPr/>
        </p:nvSpPr>
        <p:spPr>
          <a:xfrm>
            <a:off x="777240" y="1234440"/>
            <a:ext cx="8503920" cy="4167808"/>
          </a:xfrm>
          <a:prstGeom prst="rect">
            <a:avLst/>
          </a:prstGeom>
          <a:noFill/>
        </p:spPr>
        <p:txBody>
          <a:bodyPr wrap="square">
            <a:spAutoFit/>
          </a:bodyPr>
          <a:lstStyle/>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Dataset loading and initial exploration</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Data cleaning and missing-value handling</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Duplicate removal and preprocessing</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Descriptive statistical analysis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Category-wise and group-wise analysis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Trend and correlation analysis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Data visualization (bar, pie, line, heatmap)</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Summary of key insights and findings</a:t>
            </a:r>
          </a:p>
        </p:txBody>
      </p:sp>
    </p:spTree>
    <p:extLst>
      <p:ext uri="{BB962C8B-B14F-4D97-AF65-F5344CB8AC3E}">
        <p14:creationId xmlns:p14="http://schemas.microsoft.com/office/powerpoint/2010/main" val="70925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944C-8816-A98A-BE5A-6A28E3D1316D}"/>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97977331-EA1C-CA44-869F-6C400FF95B93}"/>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493C539F-A86A-512C-CDC1-7D279B60EB1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EF4257B-2B43-17B3-FF4F-1187B669162A}"/>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6F1369C-4970-FF55-E67B-BCF08160A62A}"/>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F69E22F-BC21-03E7-F9F3-42AA69CA9E92}"/>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470ED999-51AF-0BD8-F3EE-37C965CA5C3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22007" y="286489"/>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DATASET DESCRIPTION</a:t>
            </a:r>
          </a:p>
        </p:txBody>
      </p:sp>
      <p:sp>
        <p:nvSpPr>
          <p:cNvPr id="21" name="Rounded Rectangle 20"/>
          <p:cNvSpPr/>
          <p:nvPr/>
        </p:nvSpPr>
        <p:spPr>
          <a:xfrm>
            <a:off x="5074920" y="1965960"/>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101600" tIns="50800" rIns="101600" bIns="50800" rtlCol="0" anchor="ctr"/>
          <a:lstStyle/>
          <a:p>
            <a:pPr algn="ctr"/>
            <a:r>
              <a:rPr sz="1300" b="1" dirty="0">
                <a:solidFill>
                  <a:srgbClr val="FF6600"/>
                </a:solidFill>
                <a:latin typeface="Times New Roman"/>
              </a:rPr>
              <a:t>Dataset Snapshot</a:t>
            </a:r>
          </a:p>
          <a:p>
            <a:r>
              <a:rPr sz="1100" dirty="0">
                <a:solidFill>
                  <a:srgbClr val="2D2D2D"/>
                </a:solidFill>
                <a:latin typeface="Times New Roman"/>
              </a:rPr>
              <a:t>~1</a:t>
            </a:r>
            <a:r>
              <a:rPr lang="en-US" sz="1100" dirty="0">
                <a:solidFill>
                  <a:srgbClr val="2D2D2D"/>
                </a:solidFill>
                <a:latin typeface="Times New Roman"/>
              </a:rPr>
              <a:t>5</a:t>
            </a:r>
            <a:r>
              <a:rPr sz="1100" dirty="0">
                <a:solidFill>
                  <a:srgbClr val="2D2D2D"/>
                </a:solidFill>
                <a:latin typeface="Times New Roman"/>
              </a:rPr>
              <a:t>0,000 records  |  </a:t>
            </a:r>
            <a:r>
              <a:rPr lang="en-US" sz="1100" dirty="0">
                <a:solidFill>
                  <a:srgbClr val="2D2D2D"/>
                </a:solidFill>
                <a:latin typeface="Times New Roman"/>
              </a:rPr>
              <a:t>20</a:t>
            </a:r>
            <a:r>
              <a:rPr sz="1100" dirty="0">
                <a:solidFill>
                  <a:srgbClr val="2D2D2D"/>
                </a:solidFill>
                <a:latin typeface="Times New Roman"/>
              </a:rPr>
              <a:t> raw columns (trimmed to key fields)</a:t>
            </a:r>
          </a:p>
        </p:txBody>
      </p:sp>
      <p:sp>
        <p:nvSpPr>
          <p:cNvPr id="22" name="Rounded Rectangle 21"/>
          <p:cNvSpPr/>
          <p:nvPr/>
        </p:nvSpPr>
        <p:spPr>
          <a:xfrm>
            <a:off x="5074920" y="2971800"/>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101600" tIns="50800" rIns="101600" bIns="50800" rtlCol="0" anchor="ctr"/>
          <a:lstStyle/>
          <a:p>
            <a:pPr algn="ctr"/>
            <a:r>
              <a:rPr sz="1300" b="1" dirty="0">
                <a:solidFill>
                  <a:srgbClr val="FF6600"/>
                </a:solidFill>
                <a:latin typeface="Times New Roman"/>
              </a:rPr>
              <a:t>Data Quality Checks</a:t>
            </a:r>
          </a:p>
          <a:p>
            <a:r>
              <a:rPr sz="1100" dirty="0">
                <a:solidFill>
                  <a:srgbClr val="2D2D2D"/>
                </a:solidFill>
                <a:latin typeface="Times New Roman"/>
              </a:rPr>
              <a:t>Missing values handled • Duplicates removed • Categories standardized</a:t>
            </a:r>
          </a:p>
        </p:txBody>
      </p:sp>
      <p:sp>
        <p:nvSpPr>
          <p:cNvPr id="23" name="Rounded Rectangle 22"/>
          <p:cNvSpPr/>
          <p:nvPr/>
        </p:nvSpPr>
        <p:spPr>
          <a:xfrm>
            <a:off x="5074920" y="3977639"/>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101600" tIns="50800" rIns="101600" bIns="50800" rtlCol="0" anchor="ctr"/>
          <a:lstStyle/>
          <a:p>
            <a:pPr algn="ctr"/>
            <a:r>
              <a:rPr sz="1300" b="1" dirty="0">
                <a:solidFill>
                  <a:srgbClr val="FF6600"/>
                </a:solidFill>
                <a:latin typeface="Times New Roman"/>
              </a:rPr>
              <a:t>Tools &amp; Libraries</a:t>
            </a:r>
          </a:p>
          <a:p>
            <a:r>
              <a:rPr sz="1100" dirty="0">
                <a:solidFill>
                  <a:srgbClr val="2D2D2D"/>
                </a:solidFill>
                <a:latin typeface="Times New Roman"/>
              </a:rPr>
              <a:t>Python • Pandas • NumPy • Matplotlib • Seaborn</a:t>
            </a:r>
          </a:p>
        </p:txBody>
      </p:sp>
      <p:graphicFrame>
        <p:nvGraphicFramePr>
          <p:cNvPr id="2" name="Table 1">
            <a:extLst>
              <a:ext uri="{FF2B5EF4-FFF2-40B4-BE49-F238E27FC236}">
                <a16:creationId xmlns:a16="http://schemas.microsoft.com/office/drawing/2014/main" id="{46BFBDAE-AEFC-09CB-16FA-1BE83FCCCFDD}"/>
              </a:ext>
            </a:extLst>
          </p:cNvPr>
          <p:cNvGraphicFramePr>
            <a:graphicFrameLocks noGrp="1"/>
          </p:cNvGraphicFramePr>
          <p:nvPr>
            <p:extLst>
              <p:ext uri="{D42A27DB-BD31-4B8C-83A1-F6EECF244321}">
                <p14:modId xmlns:p14="http://schemas.microsoft.com/office/powerpoint/2010/main" val="3449148560"/>
              </p:ext>
            </p:extLst>
          </p:nvPr>
        </p:nvGraphicFramePr>
        <p:xfrm>
          <a:off x="152400" y="1196014"/>
          <a:ext cx="4831081" cy="6142459"/>
        </p:xfrm>
        <a:graphic>
          <a:graphicData uri="http://schemas.openxmlformats.org/drawingml/2006/table">
            <a:tbl>
              <a:tblPr firstRow="1" bandRow="1">
                <a:tableStyleId>{5C22544A-7EE6-4342-B048-85BDC9FD1C3A}</a:tableStyleId>
              </a:tblPr>
              <a:tblGrid>
                <a:gridCol w="1705945">
                  <a:extLst>
                    <a:ext uri="{9D8B030D-6E8A-4147-A177-3AD203B41FA5}">
                      <a16:colId xmlns:a16="http://schemas.microsoft.com/office/drawing/2014/main" val="823645507"/>
                    </a:ext>
                  </a:extLst>
                </a:gridCol>
                <a:gridCol w="3125136">
                  <a:extLst>
                    <a:ext uri="{9D8B030D-6E8A-4147-A177-3AD203B41FA5}">
                      <a16:colId xmlns:a16="http://schemas.microsoft.com/office/drawing/2014/main" val="549000035"/>
                    </a:ext>
                  </a:extLst>
                </a:gridCol>
              </a:tblGrid>
              <a:tr h="304849">
                <a:tc>
                  <a:txBody>
                    <a:bodyPr/>
                    <a:lstStyle/>
                    <a:p>
                      <a:pPr>
                        <a:buNone/>
                      </a:pPr>
                      <a:r>
                        <a:rPr lang="en-GB" sz="1600" b="1" dirty="0"/>
                        <a:t>Field</a:t>
                      </a:r>
                      <a:endParaRPr lang="en-GB" sz="1600" dirty="0"/>
                    </a:p>
                  </a:txBody>
                  <a:tcPr anchor="ctr"/>
                </a:tc>
                <a:tc>
                  <a:txBody>
                    <a:bodyPr/>
                    <a:lstStyle/>
                    <a:p>
                      <a:pPr>
                        <a:buNone/>
                      </a:pPr>
                      <a:r>
                        <a:rPr lang="en-GB" sz="1600" b="1"/>
                        <a:t>Description</a:t>
                      </a:r>
                      <a:endParaRPr lang="en-GB" sz="1600"/>
                    </a:p>
                  </a:txBody>
                  <a:tcPr anchor="ctr"/>
                </a:tc>
                <a:extLst>
                  <a:ext uri="{0D108BD9-81ED-4DB2-BD59-A6C34878D82A}">
                    <a16:rowId xmlns:a16="http://schemas.microsoft.com/office/drawing/2014/main" val="178562646"/>
                  </a:ext>
                </a:extLst>
              </a:tr>
              <a:tr h="533485">
                <a:tc>
                  <a:txBody>
                    <a:bodyPr/>
                    <a:lstStyle/>
                    <a:p>
                      <a:pPr>
                        <a:buNone/>
                      </a:pPr>
                      <a:r>
                        <a:rPr lang="en-GB" sz="1600" b="1"/>
                        <a:t>Date</a:t>
                      </a:r>
                      <a:endParaRPr lang="en-GB" sz="1600"/>
                    </a:p>
                  </a:txBody>
                  <a:tcPr anchor="ctr"/>
                </a:tc>
                <a:tc>
                  <a:txBody>
                    <a:bodyPr/>
                    <a:lstStyle/>
                    <a:p>
                      <a:pPr>
                        <a:buNone/>
                      </a:pPr>
                      <a:r>
                        <a:rPr lang="en-GB" sz="1600" dirty="0"/>
                        <a:t>Date of the Uber booking</a:t>
                      </a:r>
                    </a:p>
                  </a:txBody>
                  <a:tcPr anchor="ctr"/>
                </a:tc>
                <a:extLst>
                  <a:ext uri="{0D108BD9-81ED-4DB2-BD59-A6C34878D82A}">
                    <a16:rowId xmlns:a16="http://schemas.microsoft.com/office/drawing/2014/main" val="965031794"/>
                  </a:ext>
                </a:extLst>
              </a:tr>
              <a:tr h="533485">
                <a:tc>
                  <a:txBody>
                    <a:bodyPr/>
                    <a:lstStyle/>
                    <a:p>
                      <a:pPr>
                        <a:buNone/>
                      </a:pPr>
                      <a:r>
                        <a:rPr lang="en-GB" sz="1600" b="1" dirty="0"/>
                        <a:t>Time</a:t>
                      </a:r>
                      <a:endParaRPr lang="en-GB" sz="1600" dirty="0"/>
                    </a:p>
                  </a:txBody>
                  <a:tcPr anchor="ctr"/>
                </a:tc>
                <a:tc>
                  <a:txBody>
                    <a:bodyPr/>
                    <a:lstStyle/>
                    <a:p>
                      <a:pPr>
                        <a:buNone/>
                      </a:pPr>
                      <a:r>
                        <a:rPr lang="en-GB" sz="1600" dirty="0"/>
                        <a:t>Time when the booking was made</a:t>
                      </a:r>
                    </a:p>
                  </a:txBody>
                  <a:tcPr anchor="ctr"/>
                </a:tc>
                <a:extLst>
                  <a:ext uri="{0D108BD9-81ED-4DB2-BD59-A6C34878D82A}">
                    <a16:rowId xmlns:a16="http://schemas.microsoft.com/office/drawing/2014/main" val="3642561942"/>
                  </a:ext>
                </a:extLst>
              </a:tr>
              <a:tr h="533485">
                <a:tc>
                  <a:txBody>
                    <a:bodyPr/>
                    <a:lstStyle/>
                    <a:p>
                      <a:pPr>
                        <a:buNone/>
                      </a:pPr>
                      <a:r>
                        <a:rPr lang="en-GB" sz="1600" b="1" dirty="0"/>
                        <a:t>Booking ID</a:t>
                      </a:r>
                      <a:endParaRPr lang="en-GB" sz="1600" dirty="0"/>
                    </a:p>
                  </a:txBody>
                  <a:tcPr anchor="ctr"/>
                </a:tc>
                <a:tc>
                  <a:txBody>
                    <a:bodyPr/>
                    <a:lstStyle/>
                    <a:p>
                      <a:pPr>
                        <a:buNone/>
                      </a:pPr>
                      <a:r>
                        <a:rPr lang="en-GB" sz="1600"/>
                        <a:t>Unique identifier for each booking</a:t>
                      </a:r>
                    </a:p>
                  </a:txBody>
                  <a:tcPr anchor="ctr"/>
                </a:tc>
                <a:extLst>
                  <a:ext uri="{0D108BD9-81ED-4DB2-BD59-A6C34878D82A}">
                    <a16:rowId xmlns:a16="http://schemas.microsoft.com/office/drawing/2014/main" val="3294591673"/>
                  </a:ext>
                </a:extLst>
              </a:tr>
              <a:tr h="533485">
                <a:tc>
                  <a:txBody>
                    <a:bodyPr/>
                    <a:lstStyle/>
                    <a:p>
                      <a:pPr>
                        <a:buNone/>
                      </a:pPr>
                      <a:r>
                        <a:rPr lang="en-GB" sz="1600" b="1"/>
                        <a:t>Customer ID</a:t>
                      </a:r>
                      <a:endParaRPr lang="en-GB" sz="1600"/>
                    </a:p>
                  </a:txBody>
                  <a:tcPr anchor="ctr"/>
                </a:tc>
                <a:tc>
                  <a:txBody>
                    <a:bodyPr/>
                    <a:lstStyle/>
                    <a:p>
                      <a:pPr>
                        <a:buNone/>
                      </a:pPr>
                      <a:r>
                        <a:rPr lang="en-GB" sz="1600" dirty="0"/>
                        <a:t>Unique identifier for the customer</a:t>
                      </a:r>
                    </a:p>
                  </a:txBody>
                  <a:tcPr anchor="ctr"/>
                </a:tc>
                <a:extLst>
                  <a:ext uri="{0D108BD9-81ED-4DB2-BD59-A6C34878D82A}">
                    <a16:rowId xmlns:a16="http://schemas.microsoft.com/office/drawing/2014/main" val="2300953656"/>
                  </a:ext>
                </a:extLst>
              </a:tr>
              <a:tr h="990757">
                <a:tc>
                  <a:txBody>
                    <a:bodyPr/>
                    <a:lstStyle/>
                    <a:p>
                      <a:pPr>
                        <a:buNone/>
                      </a:pPr>
                      <a:r>
                        <a:rPr lang="en-GB" sz="1600" b="1"/>
                        <a:t>Vehicle Type</a:t>
                      </a:r>
                      <a:endParaRPr lang="en-GB" sz="1600"/>
                    </a:p>
                  </a:txBody>
                  <a:tcPr anchor="ctr"/>
                </a:tc>
                <a:tc>
                  <a:txBody>
                    <a:bodyPr/>
                    <a:lstStyle/>
                    <a:p>
                      <a:pPr>
                        <a:buNone/>
                      </a:pPr>
                      <a:r>
                        <a:rPr lang="en-GB" sz="1600"/>
                        <a:t>Type of vehicle used for the ride, such as Auto, Go Mini, Go Sedan, or Bike</a:t>
                      </a:r>
                    </a:p>
                  </a:txBody>
                  <a:tcPr anchor="ctr"/>
                </a:tc>
                <a:extLst>
                  <a:ext uri="{0D108BD9-81ED-4DB2-BD59-A6C34878D82A}">
                    <a16:rowId xmlns:a16="http://schemas.microsoft.com/office/drawing/2014/main" val="200192096"/>
                  </a:ext>
                </a:extLst>
              </a:tr>
              <a:tr h="533485">
                <a:tc>
                  <a:txBody>
                    <a:bodyPr/>
                    <a:lstStyle/>
                    <a:p>
                      <a:pPr>
                        <a:buNone/>
                      </a:pPr>
                      <a:r>
                        <a:rPr lang="en-GB" sz="1600" b="1" dirty="0"/>
                        <a:t>Driver Rating</a:t>
                      </a:r>
                      <a:endParaRPr lang="en-GB" sz="1600" dirty="0"/>
                    </a:p>
                  </a:txBody>
                  <a:tcPr anchor="ctr"/>
                </a:tc>
                <a:tc>
                  <a:txBody>
                    <a:bodyPr/>
                    <a:lstStyle/>
                    <a:p>
                      <a:pPr>
                        <a:buNone/>
                      </a:pPr>
                      <a:r>
                        <a:rPr lang="en-GB" sz="1600" dirty="0"/>
                        <a:t>Rating given to the driver by the customer</a:t>
                      </a:r>
                    </a:p>
                  </a:txBody>
                  <a:tcPr anchor="ctr"/>
                </a:tc>
                <a:extLst>
                  <a:ext uri="{0D108BD9-81ED-4DB2-BD59-A6C34878D82A}">
                    <a16:rowId xmlns:a16="http://schemas.microsoft.com/office/drawing/2014/main" val="3740092530"/>
                  </a:ext>
                </a:extLst>
              </a:tr>
              <a:tr h="533485">
                <a:tc>
                  <a:txBody>
                    <a:bodyPr/>
                    <a:lstStyle/>
                    <a:p>
                      <a:pPr>
                        <a:buNone/>
                      </a:pPr>
                      <a:r>
                        <a:rPr lang="en-GB" sz="1600" b="1"/>
                        <a:t>Customer Rating</a:t>
                      </a:r>
                      <a:endParaRPr lang="en-GB" sz="1600"/>
                    </a:p>
                  </a:txBody>
                  <a:tcPr anchor="ctr"/>
                </a:tc>
                <a:tc>
                  <a:txBody>
                    <a:bodyPr/>
                    <a:lstStyle/>
                    <a:p>
                      <a:pPr>
                        <a:buNone/>
                      </a:pPr>
                      <a:r>
                        <a:rPr lang="en-GB" sz="1600"/>
                        <a:t>Rating given to the customer by the driver</a:t>
                      </a:r>
                    </a:p>
                  </a:txBody>
                  <a:tcPr anchor="ctr"/>
                </a:tc>
                <a:extLst>
                  <a:ext uri="{0D108BD9-81ED-4DB2-BD59-A6C34878D82A}">
                    <a16:rowId xmlns:a16="http://schemas.microsoft.com/office/drawing/2014/main" val="2218498758"/>
                  </a:ext>
                </a:extLst>
              </a:tr>
              <a:tr h="762121">
                <a:tc>
                  <a:txBody>
                    <a:bodyPr/>
                    <a:lstStyle/>
                    <a:p>
                      <a:pPr>
                        <a:buNone/>
                      </a:pPr>
                      <a:r>
                        <a:rPr lang="en-GB" sz="1600" b="1"/>
                        <a:t>Payment Method</a:t>
                      </a:r>
                      <a:endParaRPr lang="en-GB" sz="1600"/>
                    </a:p>
                  </a:txBody>
                  <a:tcPr anchor="ctr"/>
                </a:tc>
                <a:tc>
                  <a:txBody>
                    <a:bodyPr/>
                    <a:lstStyle/>
                    <a:p>
                      <a:pPr>
                        <a:buNone/>
                      </a:pPr>
                      <a:r>
                        <a:rPr lang="en-GB" sz="1600" dirty="0"/>
                        <a:t>Method used to pay for the ride, such as UPI, Cash, Card, or Wallet</a:t>
                      </a:r>
                    </a:p>
                  </a:txBody>
                  <a:tcPr anchor="ctr"/>
                </a:tc>
                <a:extLst>
                  <a:ext uri="{0D108BD9-81ED-4DB2-BD59-A6C34878D82A}">
                    <a16:rowId xmlns:a16="http://schemas.microsoft.com/office/drawing/2014/main" val="3976108538"/>
                  </a:ext>
                </a:extLst>
              </a:tr>
              <a:tr h="762121">
                <a:tc>
                  <a:txBody>
                    <a:bodyPr/>
                    <a:lstStyle/>
                    <a:p>
                      <a:pPr>
                        <a:buNone/>
                      </a:pPr>
                      <a:r>
                        <a:rPr lang="en-GB" sz="1600" b="1" dirty="0"/>
                        <a:t>Driver Cancellation</a:t>
                      </a:r>
                    </a:p>
                  </a:txBody>
                  <a:tcPr anchor="ctr"/>
                </a:tc>
                <a:tc>
                  <a:txBody>
                    <a:bodyPr/>
                    <a:lstStyle/>
                    <a:p>
                      <a:pPr>
                        <a:buNone/>
                      </a:pPr>
                      <a:r>
                        <a:rPr lang="en-GB" sz="1600" dirty="0"/>
                        <a:t>Indicates whether the driver cancelled the booking.</a:t>
                      </a:r>
                    </a:p>
                  </a:txBody>
                  <a:tcPr anchor="ctr"/>
                </a:tc>
                <a:extLst>
                  <a:ext uri="{0D108BD9-81ED-4DB2-BD59-A6C34878D82A}">
                    <a16:rowId xmlns:a16="http://schemas.microsoft.com/office/drawing/2014/main" val="3008316335"/>
                  </a:ext>
                </a:extLst>
              </a:tr>
            </a:tbl>
          </a:graphicData>
        </a:graphic>
      </p:graphicFrame>
    </p:spTree>
    <p:extLst>
      <p:ext uri="{BB962C8B-B14F-4D97-AF65-F5344CB8AC3E}">
        <p14:creationId xmlns:p14="http://schemas.microsoft.com/office/powerpoint/2010/main" val="3510378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819400" y="52623"/>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743200" y="256032"/>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REQUIREMENTS</a:t>
            </a:r>
          </a:p>
        </p:txBody>
      </p:sp>
      <p:sp>
        <p:nvSpPr>
          <p:cNvPr id="19" name="TextBox 18"/>
          <p:cNvSpPr txBox="1"/>
          <p:nvPr/>
        </p:nvSpPr>
        <p:spPr>
          <a:xfrm>
            <a:off x="457200" y="1177211"/>
            <a:ext cx="3840480" cy="461665"/>
          </a:xfrm>
          <a:prstGeom prst="rect">
            <a:avLst/>
          </a:prstGeom>
          <a:noFill/>
        </p:spPr>
        <p:txBody>
          <a:bodyPr wrap="square">
            <a:spAutoFit/>
          </a:bodyPr>
          <a:lstStyle/>
          <a:p>
            <a:pPr algn="l">
              <a:spcAft>
                <a:spcPts val="700"/>
              </a:spcAft>
              <a:defRPr sz="2000" b="1">
                <a:solidFill>
                  <a:srgbClr val="233464"/>
                </a:solidFill>
                <a:latin typeface="Aptos"/>
              </a:defRPr>
            </a:pPr>
            <a:r>
              <a:rPr sz="2400" dirty="0">
                <a:latin typeface="Times New Roman" pitchFamily="18" charset="0"/>
                <a:cs typeface="Times New Roman" pitchFamily="18" charset="0"/>
              </a:rPr>
              <a:t>Hardware Requirements</a:t>
            </a:r>
          </a:p>
        </p:txBody>
      </p:sp>
      <p:sp>
        <p:nvSpPr>
          <p:cNvPr id="20" name="TextBox 19"/>
          <p:cNvSpPr txBox="1"/>
          <p:nvPr/>
        </p:nvSpPr>
        <p:spPr>
          <a:xfrm>
            <a:off x="657791" y="1741226"/>
            <a:ext cx="3840480" cy="1379865"/>
          </a:xfrm>
          <a:prstGeom prst="rect">
            <a:avLst/>
          </a:prstGeom>
          <a:noFill/>
        </p:spPr>
        <p:txBody>
          <a:bodyPr wrap="square">
            <a:spAutoFit/>
          </a:bodyPr>
          <a:lstStyle/>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Processor: Intel i3 or above</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RAM: Minimum 4 GB</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Storage: 20 GB</a:t>
            </a:r>
          </a:p>
        </p:txBody>
      </p:sp>
      <p:sp>
        <p:nvSpPr>
          <p:cNvPr id="21" name="TextBox 20"/>
          <p:cNvSpPr txBox="1"/>
          <p:nvPr/>
        </p:nvSpPr>
        <p:spPr>
          <a:xfrm>
            <a:off x="486937" y="3495210"/>
            <a:ext cx="3840480" cy="461665"/>
          </a:xfrm>
          <a:prstGeom prst="rect">
            <a:avLst/>
          </a:prstGeom>
          <a:noFill/>
        </p:spPr>
        <p:txBody>
          <a:bodyPr wrap="square">
            <a:spAutoFit/>
          </a:bodyPr>
          <a:lstStyle/>
          <a:p>
            <a:pPr algn="l">
              <a:spcAft>
                <a:spcPts val="700"/>
              </a:spcAft>
              <a:defRPr sz="2000" b="1">
                <a:solidFill>
                  <a:srgbClr val="233464"/>
                </a:solidFill>
                <a:latin typeface="Aptos"/>
              </a:defRPr>
            </a:pPr>
            <a:r>
              <a:rPr lang="en-IN" sz="2400" dirty="0">
                <a:latin typeface="Times New Roman" pitchFamily="18" charset="0"/>
                <a:cs typeface="Times New Roman" pitchFamily="18" charset="0"/>
              </a:rPr>
              <a:t>Software Requirements</a:t>
            </a:r>
            <a:endParaRPr sz="2400" dirty="0">
              <a:latin typeface="Times New Roman" pitchFamily="18" charset="0"/>
              <a:cs typeface="Times New Roman" pitchFamily="18" charset="0"/>
            </a:endParaRPr>
          </a:p>
        </p:txBody>
      </p:sp>
      <p:sp>
        <p:nvSpPr>
          <p:cNvPr id="22" name="TextBox 21"/>
          <p:cNvSpPr txBox="1"/>
          <p:nvPr/>
        </p:nvSpPr>
        <p:spPr>
          <a:xfrm>
            <a:off x="762000" y="4020410"/>
            <a:ext cx="5685393" cy="3585597"/>
          </a:xfrm>
          <a:prstGeom prst="rect">
            <a:avLst/>
          </a:prstGeom>
          <a:noFill/>
        </p:spPr>
        <p:txBody>
          <a:bodyPr wrap="square">
            <a:spAutoFit/>
          </a:bodyPr>
          <a:lstStyle/>
          <a:p>
            <a:pPr marL="342900" indent="-342900" algn="l">
              <a:spcAft>
                <a:spcPts val="700"/>
              </a:spcAft>
              <a:buFont typeface="Arial" panose="020B0604020202020204" pitchFamily="34" charset="0"/>
              <a:buChar char="•"/>
              <a:defRPr sz="1800" b="0">
                <a:solidFill>
                  <a:srgbClr val="2D2D2D"/>
                </a:solidFill>
                <a:latin typeface="Aptos"/>
              </a:defRPr>
            </a:pPr>
            <a:r>
              <a:rPr lang="en-GB" sz="2400" dirty="0">
                <a:latin typeface="Times New Roman" panose="02020603050405020304" pitchFamily="18" charset="0"/>
                <a:cs typeface="Times New Roman" panose="02020603050405020304" pitchFamily="18" charset="0"/>
              </a:rPr>
              <a:t>Operating system: Windows</a:t>
            </a:r>
          </a:p>
          <a:p>
            <a:pPr marL="342900" indent="-342900" algn="l">
              <a:spcAft>
                <a:spcPts val="700"/>
              </a:spcAft>
              <a:buFont typeface="Arial" panose="020B0604020202020204" pitchFamily="34" charset="0"/>
              <a:buChar char="•"/>
              <a:defRPr sz="1800" b="0">
                <a:solidFill>
                  <a:srgbClr val="2D2D2D"/>
                </a:solidFill>
                <a:latin typeface="Aptos"/>
              </a:defRPr>
            </a:pPr>
            <a:r>
              <a:rPr lang="en-GB" sz="2400" dirty="0">
                <a:latin typeface="Times New Roman" panose="02020603050405020304" pitchFamily="18" charset="0"/>
                <a:cs typeface="Times New Roman" panose="02020603050405020304" pitchFamily="18" charset="0"/>
              </a:rPr>
              <a:t>Programming language: Python</a:t>
            </a:r>
          </a:p>
          <a:p>
            <a:pPr marL="342900" indent="-342900" algn="l">
              <a:spcAft>
                <a:spcPts val="700"/>
              </a:spcAft>
              <a:buFont typeface="Arial" panose="020B0604020202020204" pitchFamily="34" charset="0"/>
              <a:buChar char="•"/>
              <a:defRPr sz="1800" b="0">
                <a:solidFill>
                  <a:srgbClr val="2D2D2D"/>
                </a:solidFill>
                <a:latin typeface="Aptos"/>
              </a:defRPr>
            </a:pPr>
            <a:r>
              <a:rPr lang="en-GB" sz="2400" dirty="0">
                <a:latin typeface="Times New Roman" panose="02020603050405020304" pitchFamily="18" charset="0"/>
                <a:cs typeface="Times New Roman" panose="02020603050405020304" pitchFamily="18" charset="0"/>
              </a:rPr>
              <a:t>Integrated Development Environment (IDE): PyCharm</a:t>
            </a:r>
          </a:p>
          <a:p>
            <a:pPr marL="342900" indent="-342900" algn="l">
              <a:spcAft>
                <a:spcPts val="700"/>
              </a:spcAft>
              <a:buFont typeface="Arial" panose="020B0604020202020204" pitchFamily="34" charset="0"/>
              <a:buChar char="•"/>
              <a:defRPr sz="1800" b="0">
                <a:solidFill>
                  <a:srgbClr val="2D2D2D"/>
                </a:solidFill>
                <a:latin typeface="Aptos"/>
              </a:defRPr>
            </a:pPr>
            <a:r>
              <a:rPr lang="en-GB" sz="2400" dirty="0">
                <a:latin typeface="Times New Roman" panose="02020603050405020304" pitchFamily="18" charset="0"/>
                <a:cs typeface="Times New Roman" panose="02020603050405020304" pitchFamily="18" charset="0"/>
              </a:rPr>
              <a:t>Data analysis: Pandas, NumPy</a:t>
            </a:r>
          </a:p>
          <a:p>
            <a:pPr marL="342900" indent="-342900" algn="l">
              <a:spcAft>
                <a:spcPts val="700"/>
              </a:spcAft>
              <a:buFont typeface="Arial" panose="020B0604020202020204" pitchFamily="34" charset="0"/>
              <a:buChar char="•"/>
              <a:defRPr sz="1800" b="0">
                <a:solidFill>
                  <a:srgbClr val="2D2D2D"/>
                </a:solidFill>
                <a:latin typeface="Aptos"/>
              </a:defRPr>
            </a:pPr>
            <a:r>
              <a:rPr lang="en-GB" sz="2400" dirty="0">
                <a:latin typeface="Times New Roman" panose="02020603050405020304" pitchFamily="18" charset="0"/>
                <a:cs typeface="Times New Roman" panose="02020603050405020304" pitchFamily="18" charset="0"/>
              </a:rPr>
              <a:t>Data visualization: Matplotlib, Seaborn</a:t>
            </a:r>
          </a:p>
          <a:p>
            <a:pPr marL="342900" indent="-342900" algn="l">
              <a:spcAft>
                <a:spcPts val="700"/>
              </a:spcAft>
              <a:buFont typeface="Arial" panose="020B0604020202020204" pitchFamily="34" charset="0"/>
              <a:buChar char="•"/>
              <a:defRPr sz="1800" b="0">
                <a:solidFill>
                  <a:srgbClr val="2D2D2D"/>
                </a:solidFill>
                <a:latin typeface="Aptos"/>
              </a:defRPr>
            </a:pPr>
            <a:r>
              <a:rPr lang="en-GB" sz="2400" dirty="0">
                <a:latin typeface="Times New Roman" panose="02020603050405020304" pitchFamily="18" charset="0"/>
                <a:cs typeface="Times New Roman" panose="02020603050405020304" pitchFamily="18" charset="0"/>
              </a:rPr>
              <a:t>Jupyter Notebook: Jupyter</a:t>
            </a:r>
          </a:p>
          <a:p>
            <a:pPr marL="342900" indent="-342900" algn="l">
              <a:spcAft>
                <a:spcPts val="700"/>
              </a:spcAft>
              <a:buFont typeface="Arial" panose="020B0604020202020204" pitchFamily="34" charset="0"/>
              <a:buChar char="•"/>
              <a:defRPr sz="1800" b="0">
                <a:solidFill>
                  <a:srgbClr val="2D2D2D"/>
                </a:solidFill>
                <a:latin typeface="Aptos"/>
              </a:defRPr>
            </a:pPr>
            <a:r>
              <a:rPr lang="en-GB" sz="2400" dirty="0">
                <a:latin typeface="Times New Roman" panose="02020603050405020304" pitchFamily="18" charset="0"/>
                <a:cs typeface="Times New Roman" panose="02020603050405020304" pitchFamily="18" charset="0"/>
              </a:rPr>
              <a:t>Others: SciPy, </a:t>
            </a:r>
            <a:r>
              <a:rPr lang="en-GB" sz="2400" dirty="0" err="1">
                <a:latin typeface="Times New Roman" panose="02020603050405020304" pitchFamily="18" charset="0"/>
                <a:cs typeface="Times New Roman" panose="02020603050405020304" pitchFamily="18" charset="0"/>
              </a:rPr>
              <a:t>Statsmodels</a:t>
            </a:r>
            <a:r>
              <a:rPr lang="en-GB" sz="2400" dirty="0">
                <a:latin typeface="Times New Roman" panose="02020603050405020304" pitchFamily="18" charset="0"/>
                <a:cs typeface="Times New Roman" panose="02020603050405020304" pitchFamily="18" charset="0"/>
              </a:rPr>
              <a:t>, Scikit-learn</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205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dirty="0">
                <a:solidFill>
                  <a:schemeClr val="bg1"/>
                </a:solidFill>
                <a:latin typeface="Times New Roman" pitchFamily="18" charset="0"/>
                <a:cs typeface="Times New Roman" pitchFamily="18" charset="0"/>
              </a:rPr>
              <a:t>METHODOLOGY</a:t>
            </a:r>
          </a:p>
        </p:txBody>
      </p:sp>
      <p:sp>
        <p:nvSpPr>
          <p:cNvPr id="20" name="TextBox 19"/>
          <p:cNvSpPr txBox="1"/>
          <p:nvPr/>
        </p:nvSpPr>
        <p:spPr>
          <a:xfrm>
            <a:off x="47834" y="1014757"/>
            <a:ext cx="9770832" cy="1569660"/>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Module 1 – Data Collection</a:t>
            </a:r>
          </a:p>
          <a:p>
            <a:pPr algn="ctr"/>
            <a:r>
              <a:rPr lang="en-US" sz="2400" dirty="0">
                <a:latin typeface="Times New Roman" pitchFamily="18" charset="0"/>
                <a:cs typeface="Times New Roman" pitchFamily="18" charset="0"/>
              </a:rPr>
              <a:t>Import required Python libraries.</a:t>
            </a:r>
          </a:p>
          <a:p>
            <a:pPr algn="ctr"/>
            <a:r>
              <a:rPr lang="en-US" sz="2400" dirty="0">
                <a:latin typeface="Times New Roman" pitchFamily="18" charset="0"/>
                <a:cs typeface="Times New Roman" pitchFamily="18" charset="0"/>
              </a:rPr>
              <a:t>Load the dataset using Pandas.</a:t>
            </a:r>
          </a:p>
          <a:p>
            <a:pPr algn="ctr"/>
            <a:endParaRPr lang="en-US" sz="2400" dirty="0">
              <a:latin typeface="Times New Roman" pitchFamily="18" charset="0"/>
              <a:cs typeface="Times New Roman" pitchFamily="18" charset="0"/>
            </a:endParaRPr>
          </a:p>
        </p:txBody>
      </p:sp>
      <p:sp>
        <p:nvSpPr>
          <p:cNvPr id="4" name="Arrow: Down 3">
            <a:extLst>
              <a:ext uri="{FF2B5EF4-FFF2-40B4-BE49-F238E27FC236}">
                <a16:creationId xmlns:a16="http://schemas.microsoft.com/office/drawing/2014/main" id="{52502A97-D245-72B2-C4CE-36C3CF74332D}"/>
              </a:ext>
            </a:extLst>
          </p:cNvPr>
          <p:cNvSpPr/>
          <p:nvPr/>
        </p:nvSpPr>
        <p:spPr>
          <a:xfrm>
            <a:off x="4796281" y="2238419"/>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3" name="TextBox 12">
            <a:extLst>
              <a:ext uri="{FF2B5EF4-FFF2-40B4-BE49-F238E27FC236}">
                <a16:creationId xmlns:a16="http://schemas.microsoft.com/office/drawing/2014/main" id="{0E34B842-9CD3-AA46-6CA7-F730C9D1D96E}"/>
              </a:ext>
            </a:extLst>
          </p:cNvPr>
          <p:cNvSpPr txBox="1"/>
          <p:nvPr/>
        </p:nvSpPr>
        <p:spPr>
          <a:xfrm>
            <a:off x="2509566" y="2534925"/>
            <a:ext cx="4931158" cy="1569660"/>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Module 2 – Data Exploration</a:t>
            </a:r>
          </a:p>
          <a:p>
            <a:pPr lvl="0" algn="ctr"/>
            <a:r>
              <a:rPr lang="en-IN" sz="2400" dirty="0">
                <a:latin typeface="Times New Roman" panose="02020603050405020304" pitchFamily="18" charset="0"/>
                <a:cs typeface="Times New Roman" panose="02020603050405020304" pitchFamily="18" charset="0"/>
              </a:rPr>
              <a:t>Check dataset size and structure.</a:t>
            </a:r>
          </a:p>
          <a:p>
            <a:pPr lvl="0" algn="ctr"/>
            <a:r>
              <a:rPr lang="en-IN" sz="2400" dirty="0">
                <a:latin typeface="Times New Roman" panose="02020603050405020304" pitchFamily="18" charset="0"/>
                <a:cs typeface="Times New Roman" panose="02020603050405020304" pitchFamily="18" charset="0"/>
              </a:rPr>
              <a:t>Identify column names and data types.</a:t>
            </a:r>
          </a:p>
          <a:p>
            <a:pPr algn="ctr"/>
            <a:endParaRPr lang="en-IN" sz="2400" dirty="0">
              <a:latin typeface="Times New Roman" panose="02020603050405020304" pitchFamily="18" charset="0"/>
              <a:cs typeface="Times New Roman" panose="02020603050405020304" pitchFamily="18" charset="0"/>
            </a:endParaRPr>
          </a:p>
        </p:txBody>
      </p:sp>
      <p:sp>
        <p:nvSpPr>
          <p:cNvPr id="15" name="Arrow: Down 14">
            <a:extLst>
              <a:ext uri="{FF2B5EF4-FFF2-40B4-BE49-F238E27FC236}">
                <a16:creationId xmlns:a16="http://schemas.microsoft.com/office/drawing/2014/main" id="{D18714A5-46F1-BD0D-4A00-BB0C1211F660}"/>
              </a:ext>
            </a:extLst>
          </p:cNvPr>
          <p:cNvSpPr/>
          <p:nvPr/>
        </p:nvSpPr>
        <p:spPr>
          <a:xfrm>
            <a:off x="4754386" y="3738629"/>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6" name="TextBox 15">
            <a:extLst>
              <a:ext uri="{FF2B5EF4-FFF2-40B4-BE49-F238E27FC236}">
                <a16:creationId xmlns:a16="http://schemas.microsoft.com/office/drawing/2014/main" id="{D359C03E-C4CB-43D3-0C7D-3D50822A8B32}"/>
              </a:ext>
            </a:extLst>
          </p:cNvPr>
          <p:cNvSpPr txBox="1"/>
          <p:nvPr/>
        </p:nvSpPr>
        <p:spPr>
          <a:xfrm>
            <a:off x="2931958" y="4085548"/>
            <a:ext cx="4086375" cy="1200329"/>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Module 3 – Data Cleaning</a:t>
            </a:r>
          </a:p>
          <a:p>
            <a:pPr lvl="0" algn="ctr"/>
            <a:r>
              <a:rPr lang="en-IN" sz="2400" dirty="0">
                <a:latin typeface="Times New Roman" panose="02020603050405020304" pitchFamily="18" charset="0"/>
                <a:cs typeface="Times New Roman" panose="02020603050405020304" pitchFamily="18" charset="0"/>
              </a:rPr>
              <a:t>Identify and fill missing values.</a:t>
            </a:r>
          </a:p>
          <a:p>
            <a:pPr lvl="0" algn="ctr"/>
            <a:r>
              <a:rPr lang="en-IN" sz="2400" dirty="0">
                <a:latin typeface="Times New Roman" panose="02020603050405020304" pitchFamily="18" charset="0"/>
                <a:cs typeface="Times New Roman" panose="02020603050405020304" pitchFamily="18" charset="0"/>
              </a:rPr>
              <a:t>Remove duplicate records.</a:t>
            </a:r>
          </a:p>
        </p:txBody>
      </p:sp>
      <p:sp>
        <p:nvSpPr>
          <p:cNvPr id="18" name="Arrow: Down 17">
            <a:extLst>
              <a:ext uri="{FF2B5EF4-FFF2-40B4-BE49-F238E27FC236}">
                <a16:creationId xmlns:a16="http://schemas.microsoft.com/office/drawing/2014/main" id="{E02D8121-E16D-A49A-1052-85D8AFE05F58}"/>
              </a:ext>
            </a:extLst>
          </p:cNvPr>
          <p:cNvSpPr/>
          <p:nvPr/>
        </p:nvSpPr>
        <p:spPr>
          <a:xfrm>
            <a:off x="4754386" y="5346288"/>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21" name="TextBox 20">
            <a:extLst>
              <a:ext uri="{FF2B5EF4-FFF2-40B4-BE49-F238E27FC236}">
                <a16:creationId xmlns:a16="http://schemas.microsoft.com/office/drawing/2014/main" id="{B1C9C953-BED3-2F43-1A1F-3B7650BC3A88}"/>
              </a:ext>
            </a:extLst>
          </p:cNvPr>
          <p:cNvSpPr txBox="1"/>
          <p:nvPr/>
        </p:nvSpPr>
        <p:spPr>
          <a:xfrm>
            <a:off x="381000" y="5641527"/>
            <a:ext cx="9437666" cy="1930485"/>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4 – Data Preprocessing</a:t>
            </a:r>
          </a:p>
          <a:p>
            <a:pPr marL="342900" lvl="0" indent="-342900" algn="ctr">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Transforming Date &amp; Time data to features.</a:t>
            </a:r>
          </a:p>
          <a:p>
            <a:pPr marL="342900" lvl="0" indent="-342900" algn="ctr">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Creating Booking Hour &amp; Day of Week features.</a:t>
            </a:r>
          </a:p>
          <a:p>
            <a:pPr marL="342900" lvl="0" indent="-342900" algn="ctr">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Creating Booking Result, Cancellation, Completion and other analysis related flags.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9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C6D514-1AF0-EDB1-7078-687065ECF56B}"/>
              </a:ext>
            </a:extLst>
          </p:cNvPr>
          <p:cNvSpPr txBox="1"/>
          <p:nvPr/>
        </p:nvSpPr>
        <p:spPr>
          <a:xfrm>
            <a:off x="2468880" y="239955"/>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dirty="0">
                <a:solidFill>
                  <a:schemeClr val="bg1"/>
                </a:solidFill>
                <a:latin typeface="Times New Roman" pitchFamily="18" charset="0"/>
                <a:cs typeface="Times New Roman" pitchFamily="18" charset="0"/>
              </a:rPr>
              <a:t>METHODOLOGY</a:t>
            </a:r>
          </a:p>
        </p:txBody>
      </p:sp>
      <p:grpSp>
        <p:nvGrpSpPr>
          <p:cNvPr id="4" name="object 3">
            <a:extLst>
              <a:ext uri="{FF2B5EF4-FFF2-40B4-BE49-F238E27FC236}">
                <a16:creationId xmlns:a16="http://schemas.microsoft.com/office/drawing/2014/main" id="{F02D1B8B-963F-84C5-69F0-17C3EECCFD8D}"/>
              </a:ext>
            </a:extLst>
          </p:cNvPr>
          <p:cNvGrpSpPr/>
          <p:nvPr/>
        </p:nvGrpSpPr>
        <p:grpSpPr>
          <a:xfrm>
            <a:off x="2644854" y="-36398"/>
            <a:ext cx="5103904" cy="1198311"/>
            <a:chOff x="2648188" y="47148"/>
            <a:chExt cx="5103904" cy="1198311"/>
          </a:xfrm>
        </p:grpSpPr>
        <p:pic>
          <p:nvPicPr>
            <p:cNvPr id="10" name="object 4">
              <a:extLst>
                <a:ext uri="{FF2B5EF4-FFF2-40B4-BE49-F238E27FC236}">
                  <a16:creationId xmlns:a16="http://schemas.microsoft.com/office/drawing/2014/main" id="{BD448D2F-A85D-4EA9-4AFA-DBD143FFC367}"/>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70B9531E-FF63-3CBC-8C76-5101CEB24CF2}"/>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A51A82D2-D894-569F-6C1F-514FA4F12972}"/>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B3782B54-B821-DE87-C2B7-79ECF9E77AF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sp>
        <p:nvSpPr>
          <p:cNvPr id="25" name="TextBox 24">
            <a:extLst>
              <a:ext uri="{FF2B5EF4-FFF2-40B4-BE49-F238E27FC236}">
                <a16:creationId xmlns:a16="http://schemas.microsoft.com/office/drawing/2014/main" id="{A5CA9835-2A27-E3B2-E349-E0FE4429CFBE}"/>
              </a:ext>
            </a:extLst>
          </p:cNvPr>
          <p:cNvSpPr txBox="1"/>
          <p:nvPr/>
        </p:nvSpPr>
        <p:spPr>
          <a:xfrm>
            <a:off x="2640267" y="215795"/>
            <a:ext cx="5029200" cy="400110"/>
          </a:xfrm>
          <a:prstGeom prst="rect">
            <a:avLst/>
          </a:prstGeom>
          <a:noFill/>
        </p:spPr>
        <p:txBody>
          <a:bodyPr wrap="square">
            <a:spAutoFit/>
          </a:bodyPr>
          <a:lstStyle/>
          <a:p>
            <a:pPr algn="ctr">
              <a:spcAft>
                <a:spcPts val="700"/>
              </a:spcAft>
              <a:defRPr sz="2200" b="1">
                <a:solidFill>
                  <a:srgbClr val="233464"/>
                </a:solidFill>
                <a:latin typeface="Aptos"/>
              </a:defRPr>
            </a:pPr>
            <a:r>
              <a:rPr lang="en-IN" sz="2000" dirty="0">
                <a:solidFill>
                  <a:schemeClr val="bg1"/>
                </a:solidFill>
                <a:latin typeface="Times New Roman" pitchFamily="18" charset="0"/>
                <a:cs typeface="Times New Roman" pitchFamily="18" charset="0"/>
              </a:rPr>
              <a:t>METHODOLOGY</a:t>
            </a:r>
          </a:p>
        </p:txBody>
      </p:sp>
      <p:sp>
        <p:nvSpPr>
          <p:cNvPr id="27" name="TextBox 26">
            <a:extLst>
              <a:ext uri="{FF2B5EF4-FFF2-40B4-BE49-F238E27FC236}">
                <a16:creationId xmlns:a16="http://schemas.microsoft.com/office/drawing/2014/main" id="{769BA950-6049-F76A-4A0C-CF5ED87D2763}"/>
              </a:ext>
            </a:extLst>
          </p:cNvPr>
          <p:cNvSpPr txBox="1"/>
          <p:nvPr/>
        </p:nvSpPr>
        <p:spPr>
          <a:xfrm>
            <a:off x="1827523" y="767000"/>
            <a:ext cx="6652974"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5 – Exploratory Data Analysis (EDA)</a:t>
            </a:r>
          </a:p>
          <a:p>
            <a:pPr marL="342900" lvl="0" indent="-342900" algn="ct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Analyse overall data distribution.</a:t>
            </a:r>
          </a:p>
          <a:p>
            <a:pPr marL="342900" lvl="0" indent="-342900" algn="ct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Explore key variable relationships.</a:t>
            </a:r>
          </a:p>
        </p:txBody>
      </p:sp>
      <p:sp>
        <p:nvSpPr>
          <p:cNvPr id="29" name="Arrow: Down 28">
            <a:extLst>
              <a:ext uri="{FF2B5EF4-FFF2-40B4-BE49-F238E27FC236}">
                <a16:creationId xmlns:a16="http://schemas.microsoft.com/office/drawing/2014/main" id="{3B0312D2-1C2D-0FC3-47A4-8970E0D691E7}"/>
              </a:ext>
            </a:extLst>
          </p:cNvPr>
          <p:cNvSpPr/>
          <p:nvPr/>
        </p:nvSpPr>
        <p:spPr>
          <a:xfrm>
            <a:off x="4839078" y="2024668"/>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1" name="TextBox 30">
            <a:extLst>
              <a:ext uri="{FF2B5EF4-FFF2-40B4-BE49-F238E27FC236}">
                <a16:creationId xmlns:a16="http://schemas.microsoft.com/office/drawing/2014/main" id="{6FA49019-54D3-0F1F-3651-5D4892AE3078}"/>
              </a:ext>
            </a:extLst>
          </p:cNvPr>
          <p:cNvSpPr txBox="1"/>
          <p:nvPr/>
        </p:nvSpPr>
        <p:spPr>
          <a:xfrm>
            <a:off x="2590800" y="2271269"/>
            <a:ext cx="4876800"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6 – Trend Analysis</a:t>
            </a:r>
          </a:p>
          <a:p>
            <a:pPr marL="342900" lvl="0" indent="-342900" algn="ct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Analyse category-wise trends.</a:t>
            </a:r>
          </a:p>
          <a:p>
            <a:pPr marL="342900" lvl="0" indent="-342900" algn="ct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Identify group-wise patterns.</a:t>
            </a:r>
          </a:p>
        </p:txBody>
      </p:sp>
      <p:sp>
        <p:nvSpPr>
          <p:cNvPr id="33" name="Arrow: Down 32">
            <a:extLst>
              <a:ext uri="{FF2B5EF4-FFF2-40B4-BE49-F238E27FC236}">
                <a16:creationId xmlns:a16="http://schemas.microsoft.com/office/drawing/2014/main" id="{6D0F4567-D057-4BE7-32A7-334EC2164A2C}"/>
              </a:ext>
            </a:extLst>
          </p:cNvPr>
          <p:cNvSpPr/>
          <p:nvPr/>
        </p:nvSpPr>
        <p:spPr>
          <a:xfrm>
            <a:off x="4796282" y="3487466"/>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5" name="TextBox 34">
            <a:extLst>
              <a:ext uri="{FF2B5EF4-FFF2-40B4-BE49-F238E27FC236}">
                <a16:creationId xmlns:a16="http://schemas.microsoft.com/office/drawing/2014/main" id="{53C43C12-4B70-F721-9E0A-DD8370D3BABC}"/>
              </a:ext>
            </a:extLst>
          </p:cNvPr>
          <p:cNvSpPr txBox="1"/>
          <p:nvPr/>
        </p:nvSpPr>
        <p:spPr>
          <a:xfrm>
            <a:off x="124889" y="3819567"/>
            <a:ext cx="9913067" cy="1569660"/>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7 – Data Visualization</a:t>
            </a:r>
          </a:p>
          <a:p>
            <a:pPr marL="342900" lvl="0" indent="-342900" algn="ctr">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Bookings outcomes and analysis based on vehicles.</a:t>
            </a:r>
          </a:p>
          <a:p>
            <a:pPr marL="342900" lvl="0" indent="-342900" algn="ctr">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Graphically represent cancellations, revenue, and rating trends.</a:t>
            </a:r>
          </a:p>
          <a:p>
            <a:pPr marL="342900" lvl="0" indent="-342900" algn="ctr">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Proper usage of graphs will help to convey analytical results graphically.</a:t>
            </a:r>
            <a:endParaRPr lang="en-IN" sz="2400" dirty="0">
              <a:latin typeface="Times New Roman" panose="02020603050405020304" pitchFamily="18" charset="0"/>
              <a:cs typeface="Times New Roman" panose="02020603050405020304" pitchFamily="18" charset="0"/>
            </a:endParaRPr>
          </a:p>
        </p:txBody>
      </p:sp>
      <p:sp>
        <p:nvSpPr>
          <p:cNvPr id="37" name="Arrow: Down 36">
            <a:extLst>
              <a:ext uri="{FF2B5EF4-FFF2-40B4-BE49-F238E27FC236}">
                <a16:creationId xmlns:a16="http://schemas.microsoft.com/office/drawing/2014/main" id="{D2A13C47-9211-7F6A-3235-E7CA857CC45D}"/>
              </a:ext>
            </a:extLst>
          </p:cNvPr>
          <p:cNvSpPr/>
          <p:nvPr/>
        </p:nvSpPr>
        <p:spPr>
          <a:xfrm>
            <a:off x="4851745" y="5495532"/>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9" name="TextBox 38">
            <a:extLst>
              <a:ext uri="{FF2B5EF4-FFF2-40B4-BE49-F238E27FC236}">
                <a16:creationId xmlns:a16="http://schemas.microsoft.com/office/drawing/2014/main" id="{A378BCE5-A3E9-0942-2521-8A05596F86BE}"/>
              </a:ext>
            </a:extLst>
          </p:cNvPr>
          <p:cNvSpPr txBox="1"/>
          <p:nvPr/>
        </p:nvSpPr>
        <p:spPr>
          <a:xfrm>
            <a:off x="243441" y="5889333"/>
            <a:ext cx="9675962" cy="1569660"/>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		Module 8 – Advanced Analysis Visualization</a:t>
            </a:r>
          </a:p>
          <a:p>
            <a:pPr marL="342900" lvl="0" indent="-342900" algn="ctr">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Distributions of ratings and coverage of ratings.</a:t>
            </a:r>
          </a:p>
          <a:p>
            <a:pPr marL="342900" lvl="0" indent="-342900" algn="ctr">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Comparison of means and medians of booking values.</a:t>
            </a:r>
          </a:p>
          <a:p>
            <a:pPr marL="342900" lvl="0" indent="-342900" algn="ctr">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Use analytical tables and graphs for discovering patterns and relationships.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4217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3">
            <a:extLst>
              <a:ext uri="{FF2B5EF4-FFF2-40B4-BE49-F238E27FC236}">
                <a16:creationId xmlns:a16="http://schemas.microsoft.com/office/drawing/2014/main" id="{D26E0863-A3EE-1EC4-F128-4D4F1A60D3A0}"/>
              </a:ext>
            </a:extLst>
          </p:cNvPr>
          <p:cNvGrpSpPr/>
          <p:nvPr/>
        </p:nvGrpSpPr>
        <p:grpSpPr>
          <a:xfrm>
            <a:off x="2590800" y="32289"/>
            <a:ext cx="5103904" cy="1198311"/>
            <a:chOff x="2648188" y="47148"/>
            <a:chExt cx="5103904" cy="1198311"/>
          </a:xfrm>
        </p:grpSpPr>
        <p:pic>
          <p:nvPicPr>
            <p:cNvPr id="21"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22"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23"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24"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25" name="TextBox 24"/>
          <p:cNvSpPr txBox="1"/>
          <p:nvPr/>
        </p:nvSpPr>
        <p:spPr>
          <a:xfrm>
            <a:off x="2468880" y="268033"/>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IN" dirty="0">
                <a:solidFill>
                  <a:schemeClr val="bg1"/>
                </a:solidFill>
                <a:latin typeface="Times New Roman" pitchFamily="18" charset="0"/>
                <a:cs typeface="Times New Roman" pitchFamily="18" charset="0"/>
              </a:rPr>
              <a:t>Data Visualization</a:t>
            </a:r>
            <a:endParaRPr dirty="0">
              <a:solidFill>
                <a:schemeClr val="bg1"/>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A833283E-61A6-ACC6-9A05-5A59E13106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7200" y="1074657"/>
            <a:ext cx="8877300" cy="6665454"/>
          </a:xfrm>
          <a:prstGeom prst="rect">
            <a:avLst/>
          </a:prstGeom>
        </p:spPr>
      </p:pic>
    </p:spTree>
    <p:extLst>
      <p:ext uri="{BB962C8B-B14F-4D97-AF65-F5344CB8AC3E}">
        <p14:creationId xmlns:p14="http://schemas.microsoft.com/office/powerpoint/2010/main" val="3751606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81B6A0A-468F-85FD-9635-F376A29B39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132092"/>
            <a:ext cx="10058400" cy="2754108"/>
          </a:xfrm>
          <a:prstGeom prst="rect">
            <a:avLst/>
          </a:prstGeom>
        </p:spPr>
      </p:pic>
      <p:pic>
        <p:nvPicPr>
          <p:cNvPr id="9" name="Picture 8">
            <a:extLst>
              <a:ext uri="{FF2B5EF4-FFF2-40B4-BE49-F238E27FC236}">
                <a16:creationId xmlns:a16="http://schemas.microsoft.com/office/drawing/2014/main" id="{46950924-8EDA-452F-4024-7FA02FDF5A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48200"/>
            <a:ext cx="10058400" cy="2747121"/>
          </a:xfrm>
          <a:prstGeom prst="rect">
            <a:avLst/>
          </a:prstGeom>
        </p:spPr>
      </p:pic>
      <p:grpSp>
        <p:nvGrpSpPr>
          <p:cNvPr id="14" name="object 3">
            <a:extLst>
              <a:ext uri="{FF2B5EF4-FFF2-40B4-BE49-F238E27FC236}">
                <a16:creationId xmlns:a16="http://schemas.microsoft.com/office/drawing/2014/main" id="{A11AE9BB-2D5D-B3D4-E22E-679283CD62C5}"/>
              </a:ext>
            </a:extLst>
          </p:cNvPr>
          <p:cNvGrpSpPr/>
          <p:nvPr/>
        </p:nvGrpSpPr>
        <p:grpSpPr>
          <a:xfrm>
            <a:off x="2590800" y="0"/>
            <a:ext cx="5103904" cy="1198311"/>
            <a:chOff x="2648188" y="47148"/>
            <a:chExt cx="5103904" cy="1198311"/>
          </a:xfrm>
        </p:grpSpPr>
        <p:pic>
          <p:nvPicPr>
            <p:cNvPr id="15" name="object 4">
              <a:extLst>
                <a:ext uri="{FF2B5EF4-FFF2-40B4-BE49-F238E27FC236}">
                  <a16:creationId xmlns:a16="http://schemas.microsoft.com/office/drawing/2014/main" id="{701F2733-B2C8-86E1-EF84-D476F49A331F}"/>
                </a:ext>
              </a:extLst>
            </p:cNvPr>
            <p:cNvPicPr/>
            <p:nvPr/>
          </p:nvPicPr>
          <p:blipFill>
            <a:blip r:embed="rId4" cstate="print"/>
            <a:stretch>
              <a:fillRect/>
            </a:stretch>
          </p:blipFill>
          <p:spPr>
            <a:xfrm>
              <a:off x="2648188" y="47148"/>
              <a:ext cx="5103904" cy="1198311"/>
            </a:xfrm>
            <a:prstGeom prst="rect">
              <a:avLst/>
            </a:prstGeom>
          </p:spPr>
        </p:pic>
        <p:pic>
          <p:nvPicPr>
            <p:cNvPr id="16" name="object 5">
              <a:extLst>
                <a:ext uri="{FF2B5EF4-FFF2-40B4-BE49-F238E27FC236}">
                  <a16:creationId xmlns:a16="http://schemas.microsoft.com/office/drawing/2014/main" id="{2E14A9D7-8E1E-B8AE-C080-054D260FB267}"/>
                </a:ext>
              </a:extLst>
            </p:cNvPr>
            <p:cNvPicPr/>
            <p:nvPr/>
          </p:nvPicPr>
          <p:blipFill>
            <a:blip r:embed="rId5" cstate="print"/>
            <a:stretch>
              <a:fillRect/>
            </a:stretch>
          </p:blipFill>
          <p:spPr>
            <a:xfrm>
              <a:off x="2703195" y="86439"/>
              <a:ext cx="4997767" cy="1092279"/>
            </a:xfrm>
            <a:prstGeom prst="rect">
              <a:avLst/>
            </a:prstGeom>
          </p:spPr>
        </p:pic>
        <p:pic>
          <p:nvPicPr>
            <p:cNvPr id="17" name="object 6">
              <a:extLst>
                <a:ext uri="{FF2B5EF4-FFF2-40B4-BE49-F238E27FC236}">
                  <a16:creationId xmlns:a16="http://schemas.microsoft.com/office/drawing/2014/main" id="{59B20B79-64FA-57E1-D821-5623565CE406}"/>
                </a:ext>
              </a:extLst>
            </p:cNvPr>
            <p:cNvPicPr/>
            <p:nvPr/>
          </p:nvPicPr>
          <p:blipFill>
            <a:blip r:embed="rId6" cstate="print"/>
            <a:stretch>
              <a:fillRect/>
            </a:stretch>
          </p:blipFill>
          <p:spPr>
            <a:xfrm>
              <a:off x="2828925" y="243549"/>
              <a:ext cx="4585268" cy="522565"/>
            </a:xfrm>
            <a:prstGeom prst="rect">
              <a:avLst/>
            </a:prstGeom>
          </p:spPr>
        </p:pic>
        <p:sp>
          <p:nvSpPr>
            <p:cNvPr id="18" name="object 7">
              <a:extLst>
                <a:ext uri="{FF2B5EF4-FFF2-40B4-BE49-F238E27FC236}">
                  <a16:creationId xmlns:a16="http://schemas.microsoft.com/office/drawing/2014/main" id="{326A5E3E-D924-E2B9-704C-D967F96CD4C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19" name="TextBox 18">
            <a:extLst>
              <a:ext uri="{FF2B5EF4-FFF2-40B4-BE49-F238E27FC236}">
                <a16:creationId xmlns:a16="http://schemas.microsoft.com/office/drawing/2014/main" id="{B32778AA-35A1-AFFA-7142-1B6278D5DDA5}"/>
              </a:ext>
            </a:extLst>
          </p:cNvPr>
          <p:cNvSpPr txBox="1"/>
          <p:nvPr/>
        </p:nvSpPr>
        <p:spPr>
          <a:xfrm>
            <a:off x="2522934" y="2365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IN" dirty="0">
                <a:solidFill>
                  <a:schemeClr val="bg1"/>
                </a:solidFill>
                <a:latin typeface="Times New Roman" pitchFamily="18" charset="0"/>
                <a:cs typeface="Times New Roman" pitchFamily="18" charset="0"/>
              </a:rPr>
              <a:t>Data Visualization</a:t>
            </a:r>
            <a:endParaRPr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2733151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F12DAA-F4A9-F955-E9E5-30221B5E33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371600"/>
            <a:ext cx="10058400" cy="2845290"/>
          </a:xfrm>
          <a:prstGeom prst="rect">
            <a:avLst/>
          </a:prstGeom>
        </p:spPr>
      </p:pic>
      <p:pic>
        <p:nvPicPr>
          <p:cNvPr id="7" name="Picture 6">
            <a:extLst>
              <a:ext uri="{FF2B5EF4-FFF2-40B4-BE49-F238E27FC236}">
                <a16:creationId xmlns:a16="http://schemas.microsoft.com/office/drawing/2014/main" id="{D4937663-2F76-A479-4435-51437412E8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876800"/>
            <a:ext cx="10058400" cy="2744222"/>
          </a:xfrm>
          <a:prstGeom prst="rect">
            <a:avLst/>
          </a:prstGeom>
        </p:spPr>
      </p:pic>
      <p:grpSp>
        <p:nvGrpSpPr>
          <p:cNvPr id="8" name="object 3">
            <a:extLst>
              <a:ext uri="{FF2B5EF4-FFF2-40B4-BE49-F238E27FC236}">
                <a16:creationId xmlns:a16="http://schemas.microsoft.com/office/drawing/2014/main" id="{DC972EB3-1AD6-FE80-D855-CDB3A126B0C0}"/>
              </a:ext>
            </a:extLst>
          </p:cNvPr>
          <p:cNvGrpSpPr/>
          <p:nvPr/>
        </p:nvGrpSpPr>
        <p:grpSpPr>
          <a:xfrm>
            <a:off x="2590800" y="28715"/>
            <a:ext cx="5103904" cy="1198311"/>
            <a:chOff x="2648188" y="47148"/>
            <a:chExt cx="5103904" cy="1198311"/>
          </a:xfrm>
        </p:grpSpPr>
        <p:pic>
          <p:nvPicPr>
            <p:cNvPr id="9" name="object 4">
              <a:extLst>
                <a:ext uri="{FF2B5EF4-FFF2-40B4-BE49-F238E27FC236}">
                  <a16:creationId xmlns:a16="http://schemas.microsoft.com/office/drawing/2014/main" id="{72EFE4F7-F62E-EECE-ECCA-F0DF74EC4028}"/>
                </a:ext>
              </a:extLst>
            </p:cNvPr>
            <p:cNvPicPr/>
            <p:nvPr/>
          </p:nvPicPr>
          <p:blipFill>
            <a:blip r:embed="rId4" cstate="print"/>
            <a:stretch>
              <a:fillRect/>
            </a:stretch>
          </p:blipFill>
          <p:spPr>
            <a:xfrm>
              <a:off x="2648188" y="47148"/>
              <a:ext cx="5103904" cy="1198311"/>
            </a:xfrm>
            <a:prstGeom prst="rect">
              <a:avLst/>
            </a:prstGeom>
          </p:spPr>
        </p:pic>
        <p:pic>
          <p:nvPicPr>
            <p:cNvPr id="10" name="object 5">
              <a:extLst>
                <a:ext uri="{FF2B5EF4-FFF2-40B4-BE49-F238E27FC236}">
                  <a16:creationId xmlns:a16="http://schemas.microsoft.com/office/drawing/2014/main" id="{79086035-4EF0-8CA8-500A-52F552E2A8E3}"/>
                </a:ext>
              </a:extLst>
            </p:cNvPr>
            <p:cNvPicPr/>
            <p:nvPr/>
          </p:nvPicPr>
          <p:blipFill>
            <a:blip r:embed="rId5" cstate="print"/>
            <a:stretch>
              <a:fillRect/>
            </a:stretch>
          </p:blipFill>
          <p:spPr>
            <a:xfrm>
              <a:off x="2703195" y="86439"/>
              <a:ext cx="4997767" cy="1092279"/>
            </a:xfrm>
            <a:prstGeom prst="rect">
              <a:avLst/>
            </a:prstGeom>
          </p:spPr>
        </p:pic>
        <p:pic>
          <p:nvPicPr>
            <p:cNvPr id="11" name="object 6">
              <a:extLst>
                <a:ext uri="{FF2B5EF4-FFF2-40B4-BE49-F238E27FC236}">
                  <a16:creationId xmlns:a16="http://schemas.microsoft.com/office/drawing/2014/main" id="{963F8D3F-47C2-5F12-4222-BFD7B387C67E}"/>
                </a:ext>
              </a:extLst>
            </p:cNvPr>
            <p:cNvPicPr/>
            <p:nvPr/>
          </p:nvPicPr>
          <p:blipFill>
            <a:blip r:embed="rId6" cstate="print"/>
            <a:stretch>
              <a:fillRect/>
            </a:stretch>
          </p:blipFill>
          <p:spPr>
            <a:xfrm>
              <a:off x="2828925" y="243549"/>
              <a:ext cx="4585268" cy="522565"/>
            </a:xfrm>
            <a:prstGeom prst="rect">
              <a:avLst/>
            </a:prstGeom>
          </p:spPr>
        </p:pic>
        <p:sp>
          <p:nvSpPr>
            <p:cNvPr id="12" name="object 7">
              <a:extLst>
                <a:ext uri="{FF2B5EF4-FFF2-40B4-BE49-F238E27FC236}">
                  <a16:creationId xmlns:a16="http://schemas.microsoft.com/office/drawing/2014/main" id="{0A8D2A89-233D-FBE0-385F-372AA244778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13" name="TextBox 12">
            <a:extLst>
              <a:ext uri="{FF2B5EF4-FFF2-40B4-BE49-F238E27FC236}">
                <a16:creationId xmlns:a16="http://schemas.microsoft.com/office/drawing/2014/main" id="{FAA20778-A7B2-3A50-8C16-7F4FBE34F9A1}"/>
              </a:ext>
            </a:extLst>
          </p:cNvPr>
          <p:cNvSpPr txBox="1"/>
          <p:nvPr/>
        </p:nvSpPr>
        <p:spPr>
          <a:xfrm>
            <a:off x="2522934" y="240990"/>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IN" dirty="0">
                <a:solidFill>
                  <a:schemeClr val="bg1"/>
                </a:solidFill>
                <a:latin typeface="Times New Roman" pitchFamily="18" charset="0"/>
                <a:cs typeface="Times New Roman" pitchFamily="18" charset="0"/>
              </a:rPr>
              <a:t>Data Visualization</a:t>
            </a:r>
            <a:endParaRPr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590736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3429000" y="152400"/>
            <a:ext cx="3265998" cy="830997"/>
          </a:xfrm>
          <a:prstGeom prst="rect">
            <a:avLst/>
          </a:prstGeom>
          <a:noFill/>
        </p:spPr>
        <p:txBody>
          <a:bodyPr wrap="square" rtlCol="0">
            <a:spAutoFit/>
          </a:bodyPr>
          <a:lstStyle/>
          <a:p>
            <a:pPr algn="ctr"/>
            <a:r>
              <a:rPr lang="en-IN" sz="2400" dirty="0">
                <a:solidFill>
                  <a:schemeClr val="bg1"/>
                </a:solidFill>
                <a:latin typeface="Times New Roman" pitchFamily="18" charset="0"/>
                <a:cs typeface="Times New Roman" pitchFamily="18" charset="0"/>
              </a:rPr>
              <a:t>Key Insights &amp; Analysis</a:t>
            </a:r>
          </a:p>
          <a:p>
            <a:endParaRPr lang="en-US" sz="2400" dirty="0"/>
          </a:p>
        </p:txBody>
      </p:sp>
      <p:sp>
        <p:nvSpPr>
          <p:cNvPr id="10" name="TextBox 9"/>
          <p:cNvSpPr txBox="1"/>
          <p:nvPr/>
        </p:nvSpPr>
        <p:spPr>
          <a:xfrm>
            <a:off x="548640" y="1554480"/>
            <a:ext cx="8961120" cy="5657959"/>
          </a:xfrm>
          <a:prstGeom prst="rect">
            <a:avLst/>
          </a:prstGeom>
          <a:noFill/>
        </p:spPr>
        <p:txBody>
          <a:bodyPr wrap="square">
            <a:spAutoFit/>
          </a:bodyPr>
          <a:lstStyle/>
          <a:p>
            <a:pPr marL="285750" indent="-285750">
              <a:spcAft>
                <a:spcPts val="1400"/>
              </a:spcAft>
              <a:buFont typeface="Arial" panose="020B0604020202020204" pitchFamily="34" charset="0"/>
              <a:buChar char="•"/>
            </a:pPr>
            <a:r>
              <a:rPr lang="en-GB" sz="2000" dirty="0">
                <a:solidFill>
                  <a:srgbClr val="2D2D2D"/>
                </a:solidFill>
                <a:latin typeface="Times New Roman"/>
              </a:rPr>
              <a:t>Bookings were completed 62% of times, while 25% were cancelled, which suggests that there were many unsuccessful bookings.</a:t>
            </a:r>
          </a:p>
          <a:p>
            <a:pPr marL="285750" indent="-285750">
              <a:spcAft>
                <a:spcPts val="1400"/>
              </a:spcAft>
              <a:buFont typeface="Arial" panose="020B0604020202020204" pitchFamily="34" charset="0"/>
              <a:buChar char="•"/>
            </a:pPr>
            <a:r>
              <a:rPr lang="en-GB" sz="2000" dirty="0">
                <a:solidFill>
                  <a:srgbClr val="2D2D2D"/>
                </a:solidFill>
                <a:latin typeface="Times New Roman"/>
              </a:rPr>
              <a:t>Cancellation by drivers occurred more often than cancellation by customers, thus becoming an important issue for management.</a:t>
            </a:r>
          </a:p>
          <a:p>
            <a:pPr marL="285750" indent="-285750">
              <a:spcAft>
                <a:spcPts val="1400"/>
              </a:spcAft>
              <a:buFont typeface="Arial" panose="020B0604020202020204" pitchFamily="34" charset="0"/>
              <a:buChar char="•"/>
            </a:pPr>
            <a:r>
              <a:rPr lang="en-GB" sz="2000" dirty="0">
                <a:solidFill>
                  <a:srgbClr val="2D2D2D"/>
                </a:solidFill>
                <a:latin typeface="Times New Roman"/>
              </a:rPr>
              <a:t>Also, about 7% of bookings were cancelled due to the lack of a driver, thus making driver allocation an issue.</a:t>
            </a:r>
          </a:p>
          <a:p>
            <a:pPr marL="285750" indent="-285750">
              <a:spcAft>
                <a:spcPts val="1400"/>
              </a:spcAft>
              <a:buFont typeface="Arial" panose="020B0604020202020204" pitchFamily="34" charset="0"/>
              <a:buChar char="•"/>
            </a:pPr>
            <a:r>
              <a:rPr lang="en-GB" sz="2000" dirty="0">
                <a:solidFill>
                  <a:srgbClr val="2D2D2D"/>
                </a:solidFill>
                <a:latin typeface="Times New Roman"/>
              </a:rPr>
              <a:t>Average distance per ride is 24.64 km, while average booking price was about ₹508.</a:t>
            </a:r>
          </a:p>
          <a:p>
            <a:pPr marL="285750" indent="-285750">
              <a:spcAft>
                <a:spcPts val="1400"/>
              </a:spcAft>
              <a:buFont typeface="Arial" panose="020B0604020202020204" pitchFamily="34" charset="0"/>
              <a:buChar char="•"/>
            </a:pPr>
            <a:r>
              <a:rPr lang="en-GB" sz="2000" dirty="0">
                <a:solidFill>
                  <a:srgbClr val="2D2D2D"/>
                </a:solidFill>
                <a:latin typeface="Times New Roman"/>
              </a:rPr>
              <a:t>Average rating of a driver is 4.23, while average rating of a customer is 4.40.</a:t>
            </a:r>
          </a:p>
          <a:p>
            <a:pPr marL="285750" indent="-285750">
              <a:spcAft>
                <a:spcPts val="1400"/>
              </a:spcAft>
              <a:buFont typeface="Arial" panose="020B0604020202020204" pitchFamily="34" charset="0"/>
              <a:buChar char="•"/>
            </a:pPr>
            <a:r>
              <a:rPr lang="en-GB" sz="2000" dirty="0">
                <a:solidFill>
                  <a:srgbClr val="2D2D2D"/>
                </a:solidFill>
                <a:latin typeface="Times New Roman"/>
              </a:rPr>
              <a:t>Auto, Go Mini, and Go Sedan made considerable contribution to successful rides and revenues generated by them.</a:t>
            </a:r>
          </a:p>
          <a:p>
            <a:pPr marL="285750" indent="-285750">
              <a:spcAft>
                <a:spcPts val="1400"/>
              </a:spcAft>
              <a:buFont typeface="Arial" panose="020B0604020202020204" pitchFamily="34" charset="0"/>
              <a:buChar char="•"/>
            </a:pPr>
            <a:r>
              <a:rPr lang="en-GB" sz="2000" dirty="0">
                <a:solidFill>
                  <a:srgbClr val="2D2D2D"/>
                </a:solidFill>
                <a:latin typeface="Times New Roman"/>
              </a:rPr>
              <a:t>Total revenue from bookings was ₹65.7 million.</a:t>
            </a:r>
          </a:p>
          <a:p>
            <a:pPr marL="285750" indent="-285750">
              <a:spcAft>
                <a:spcPts val="1400"/>
              </a:spcAft>
              <a:buFont typeface="Arial" panose="020B0604020202020204" pitchFamily="34" charset="0"/>
              <a:buChar char="•"/>
            </a:pPr>
            <a:r>
              <a:rPr lang="en-GB" sz="2000" dirty="0">
                <a:solidFill>
                  <a:srgbClr val="2D2D2D"/>
                </a:solidFill>
                <a:latin typeface="Times New Roman"/>
              </a:rPr>
              <a:t>This information became the reason to choose charts for booking results, cancellations, revenues, vehicles, and ratings.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67ACC245-70D9-3E8C-5FB8-754CFCF29BA7}"/>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520D471-D4E5-A862-75B1-D9BCC13CCE76}"/>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D22DAB3-C37B-1766-28C4-6EB13F7079CD}"/>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DC96198-DF83-D7E8-5187-D35038090D7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BAA191BE-B616-456E-A32A-06C5D11989B1}"/>
                </a:ext>
              </a:extLst>
            </p:cNvPr>
            <p:cNvSpPr/>
            <p:nvPr/>
          </p:nvSpPr>
          <p:spPr>
            <a:xfrm>
              <a:off x="2828925" y="282892"/>
              <a:ext cx="4534295"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t>                     </a:t>
              </a:r>
              <a:endParaRPr sz="2800" dirty="0">
                <a:solidFill>
                  <a:schemeClr val="bg1"/>
                </a:solidFill>
              </a:endParaRPr>
            </a:p>
          </p:txBody>
        </p:sp>
      </p:grpSp>
      <p:sp>
        <p:nvSpPr>
          <p:cNvPr id="12" name="TextBox 11"/>
          <p:cNvSpPr txBox="1"/>
          <p:nvPr/>
        </p:nvSpPr>
        <p:spPr>
          <a:xfrm>
            <a:off x="2477248" y="3938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Implementation Workflow</a:t>
            </a:r>
          </a:p>
        </p:txBody>
      </p:sp>
      <p:sp>
        <p:nvSpPr>
          <p:cNvPr id="13" name="TextBox 12"/>
          <p:cNvSpPr txBox="1"/>
          <p:nvPr/>
        </p:nvSpPr>
        <p:spPr>
          <a:xfrm>
            <a:off x="3627979" y="1234440"/>
            <a:ext cx="2710999" cy="292388"/>
          </a:xfrm>
          <a:prstGeom prst="rect">
            <a:avLst/>
          </a:prstGeom>
          <a:noFill/>
        </p:spPr>
        <p:txBody>
          <a:bodyPr wrap="none">
            <a:spAutoFit/>
          </a:bodyPr>
          <a:lstStyle/>
          <a:p>
            <a:pPr algn="ctr"/>
            <a:r>
              <a:rPr sz="1300" i="1" dirty="0">
                <a:solidFill>
                  <a:srgbClr val="808080"/>
                </a:solidFill>
                <a:latin typeface="Times New Roman"/>
              </a:rPr>
              <a:t>From raw data to actionable insights</a:t>
            </a:r>
          </a:p>
        </p:txBody>
      </p:sp>
      <p:sp>
        <p:nvSpPr>
          <p:cNvPr id="14" name="Chevron 13"/>
          <p:cNvSpPr/>
          <p:nvPr/>
        </p:nvSpPr>
        <p:spPr>
          <a:xfrm>
            <a:off x="365760" y="196596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1. Data
Collection</a:t>
            </a:r>
          </a:p>
        </p:txBody>
      </p:sp>
      <p:sp>
        <p:nvSpPr>
          <p:cNvPr id="15" name="Chevron 14"/>
          <p:cNvSpPr/>
          <p:nvPr/>
        </p:nvSpPr>
        <p:spPr>
          <a:xfrm>
            <a:off x="3291839" y="196596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2. Data
</a:t>
            </a:r>
            <a:r>
              <a:rPr lang="en-US" sz="1300" b="1" dirty="0">
                <a:solidFill>
                  <a:srgbClr val="FFFFFF"/>
                </a:solidFill>
                <a:latin typeface="Times New Roman"/>
              </a:rPr>
              <a:t>Exploration</a:t>
            </a:r>
            <a:endParaRPr sz="1300" b="1" dirty="0">
              <a:solidFill>
                <a:srgbClr val="FFFFFF"/>
              </a:solidFill>
              <a:latin typeface="Times New Roman"/>
            </a:endParaRPr>
          </a:p>
        </p:txBody>
      </p:sp>
      <p:sp>
        <p:nvSpPr>
          <p:cNvPr id="16" name="Chevron 15"/>
          <p:cNvSpPr/>
          <p:nvPr/>
        </p:nvSpPr>
        <p:spPr>
          <a:xfrm>
            <a:off x="6217920" y="196596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3. </a:t>
            </a:r>
            <a:r>
              <a:rPr lang="en-US" sz="1300" b="1" dirty="0">
                <a:solidFill>
                  <a:srgbClr val="FFFFFF"/>
                </a:solidFill>
                <a:latin typeface="Times New Roman"/>
              </a:rPr>
              <a:t>Data Cleaning</a:t>
            </a:r>
            <a:endParaRPr sz="1300" b="1" dirty="0">
              <a:solidFill>
                <a:srgbClr val="FFFFFF"/>
              </a:solidFill>
              <a:latin typeface="Times New Roman"/>
            </a:endParaRPr>
          </a:p>
        </p:txBody>
      </p:sp>
      <p:sp>
        <p:nvSpPr>
          <p:cNvPr id="17" name="Chevron 16"/>
          <p:cNvSpPr/>
          <p:nvPr/>
        </p:nvSpPr>
        <p:spPr>
          <a:xfrm>
            <a:off x="36576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4. </a:t>
            </a:r>
            <a:r>
              <a:rPr lang="en-US" sz="1300" b="1" dirty="0">
                <a:solidFill>
                  <a:srgbClr val="FFFFFF"/>
                </a:solidFill>
                <a:latin typeface="Times New Roman"/>
              </a:rPr>
              <a:t>Data </a:t>
            </a:r>
            <a:r>
              <a:rPr lang="en-US" sz="1300" b="1" dirty="0" err="1">
                <a:solidFill>
                  <a:srgbClr val="FFFFFF"/>
                </a:solidFill>
                <a:latin typeface="Times New Roman"/>
              </a:rPr>
              <a:t>Proprocessing</a:t>
            </a:r>
            <a:endParaRPr sz="1300" b="1" dirty="0">
              <a:solidFill>
                <a:srgbClr val="FFFFFF"/>
              </a:solidFill>
              <a:latin typeface="Times New Roman"/>
            </a:endParaRPr>
          </a:p>
        </p:txBody>
      </p:sp>
      <p:sp>
        <p:nvSpPr>
          <p:cNvPr id="18" name="Chevron 17"/>
          <p:cNvSpPr/>
          <p:nvPr/>
        </p:nvSpPr>
        <p:spPr>
          <a:xfrm>
            <a:off x="3291839" y="370332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5. </a:t>
            </a:r>
            <a:r>
              <a:rPr lang="en-US" sz="1300" b="1" dirty="0">
                <a:solidFill>
                  <a:srgbClr val="FFFFFF"/>
                </a:solidFill>
                <a:latin typeface="Times New Roman"/>
              </a:rPr>
              <a:t>EDA</a:t>
            </a:r>
            <a:endParaRPr sz="1300" b="1" dirty="0">
              <a:solidFill>
                <a:srgbClr val="FFFFFF"/>
              </a:solidFill>
              <a:latin typeface="Times New Roman"/>
            </a:endParaRPr>
          </a:p>
        </p:txBody>
      </p:sp>
      <p:sp>
        <p:nvSpPr>
          <p:cNvPr id="19" name="Chevron 18"/>
          <p:cNvSpPr/>
          <p:nvPr/>
        </p:nvSpPr>
        <p:spPr>
          <a:xfrm>
            <a:off x="621792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6. </a:t>
            </a:r>
            <a:r>
              <a:rPr lang="en-US" sz="1300" b="1" dirty="0">
                <a:solidFill>
                  <a:srgbClr val="FFFFFF"/>
                </a:solidFill>
                <a:latin typeface="Times New Roman"/>
              </a:rPr>
              <a:t>Trend </a:t>
            </a:r>
            <a:r>
              <a:rPr lang="en-US" sz="1300" b="1" dirty="0" err="1">
                <a:solidFill>
                  <a:srgbClr val="FFFFFF"/>
                </a:solidFill>
                <a:latin typeface="Times New Roman"/>
              </a:rPr>
              <a:t>Analyis</a:t>
            </a:r>
            <a:endParaRPr sz="1300" b="1" dirty="0">
              <a:solidFill>
                <a:srgbClr val="FFFFFF"/>
              </a:solidFill>
              <a:latin typeface="Times New Roman"/>
            </a:endParaRPr>
          </a:p>
        </p:txBody>
      </p:sp>
      <p:sp>
        <p:nvSpPr>
          <p:cNvPr id="20" name="Down Arrow 19"/>
          <p:cNvSpPr/>
          <p:nvPr/>
        </p:nvSpPr>
        <p:spPr>
          <a:xfrm>
            <a:off x="4572000" y="2999232"/>
            <a:ext cx="640080" cy="640080"/>
          </a:xfrm>
          <a:prstGeom prst="downArrow">
            <a:avLst/>
          </a:prstGeom>
          <a:solidFill>
            <a:srgbClr val="C25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7194999"/>
            <a:ext cx="9144000" cy="457200"/>
          </a:xfrm>
          <a:prstGeom prst="rect">
            <a:avLst/>
          </a:prstGeom>
          <a:noFill/>
        </p:spPr>
        <p:txBody>
          <a:bodyPr wrap="none">
            <a:spAutoFit/>
          </a:bodyPr>
          <a:lstStyle/>
          <a:p>
            <a:pPr algn="ctr"/>
            <a:r>
              <a:rPr sz="1300" i="1" dirty="0">
                <a:solidFill>
                  <a:srgbClr val="233464"/>
                </a:solidFill>
                <a:latin typeface="Times New Roman"/>
              </a:rPr>
              <a:t>Output: cleaned dataset → charts → a short set of actionable insights</a:t>
            </a:r>
          </a:p>
        </p:txBody>
      </p:sp>
      <p:sp>
        <p:nvSpPr>
          <p:cNvPr id="3" name="Chevron 16">
            <a:extLst>
              <a:ext uri="{FF2B5EF4-FFF2-40B4-BE49-F238E27FC236}">
                <a16:creationId xmlns:a16="http://schemas.microsoft.com/office/drawing/2014/main" id="{4A4D71D9-F63B-59FC-CA86-5976FF20AB18}"/>
              </a:ext>
            </a:extLst>
          </p:cNvPr>
          <p:cNvSpPr/>
          <p:nvPr/>
        </p:nvSpPr>
        <p:spPr>
          <a:xfrm>
            <a:off x="1943306" y="5654847"/>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300" b="1" dirty="0">
                <a:solidFill>
                  <a:srgbClr val="FFFFFF"/>
                </a:solidFill>
                <a:latin typeface="Times New Roman"/>
              </a:rPr>
              <a:t>7</a:t>
            </a:r>
            <a:r>
              <a:rPr sz="1300" b="1" dirty="0">
                <a:solidFill>
                  <a:srgbClr val="FFFFFF"/>
                </a:solidFill>
                <a:latin typeface="Times New Roman"/>
              </a:rPr>
              <a:t>. </a:t>
            </a:r>
            <a:r>
              <a:rPr lang="en-US" sz="1300" b="1" dirty="0">
                <a:solidFill>
                  <a:srgbClr val="FFFFFF"/>
                </a:solidFill>
                <a:latin typeface="Times New Roman"/>
              </a:rPr>
              <a:t>Data Visualization</a:t>
            </a:r>
            <a:endParaRPr sz="1300" b="1" dirty="0">
              <a:solidFill>
                <a:srgbClr val="FFFFFF"/>
              </a:solidFill>
              <a:latin typeface="Times New Roman"/>
            </a:endParaRPr>
          </a:p>
        </p:txBody>
      </p:sp>
      <p:sp>
        <p:nvSpPr>
          <p:cNvPr id="5" name="Chevron 17">
            <a:extLst>
              <a:ext uri="{FF2B5EF4-FFF2-40B4-BE49-F238E27FC236}">
                <a16:creationId xmlns:a16="http://schemas.microsoft.com/office/drawing/2014/main" id="{DF54995A-C53E-08E8-D5A7-05DF8DC87885}"/>
              </a:ext>
            </a:extLst>
          </p:cNvPr>
          <p:cNvSpPr/>
          <p:nvPr/>
        </p:nvSpPr>
        <p:spPr>
          <a:xfrm>
            <a:off x="4892040" y="5654847"/>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300" b="1" dirty="0">
                <a:solidFill>
                  <a:srgbClr val="FFFFFF"/>
                </a:solidFill>
                <a:latin typeface="Times New Roman"/>
              </a:rPr>
              <a:t>8</a:t>
            </a:r>
            <a:r>
              <a:rPr sz="1300" b="1" dirty="0">
                <a:solidFill>
                  <a:srgbClr val="FFFFFF"/>
                </a:solidFill>
                <a:latin typeface="Times New Roman"/>
              </a:rPr>
              <a:t>. </a:t>
            </a:r>
            <a:r>
              <a:rPr lang="en-US" sz="1300" b="1" dirty="0">
                <a:solidFill>
                  <a:srgbClr val="FFFFFF"/>
                </a:solidFill>
                <a:latin typeface="Times New Roman"/>
              </a:rPr>
              <a:t>Advanced Analysis &amp; Visualization</a:t>
            </a:r>
            <a:endParaRPr sz="1300" b="1" dirty="0">
              <a:solidFill>
                <a:srgbClr val="FFFFFF"/>
              </a:solidFill>
              <a:latin typeface="Times New Roman"/>
            </a:endParaRPr>
          </a:p>
        </p:txBody>
      </p:sp>
      <p:sp>
        <p:nvSpPr>
          <p:cNvPr id="22" name="Down Arrow 19">
            <a:extLst>
              <a:ext uri="{FF2B5EF4-FFF2-40B4-BE49-F238E27FC236}">
                <a16:creationId xmlns:a16="http://schemas.microsoft.com/office/drawing/2014/main" id="{3C43E931-C450-3780-6A66-8B5F58381F1C}"/>
              </a:ext>
            </a:extLst>
          </p:cNvPr>
          <p:cNvSpPr/>
          <p:nvPr/>
        </p:nvSpPr>
        <p:spPr>
          <a:xfrm>
            <a:off x="4605092" y="4820245"/>
            <a:ext cx="640080" cy="640080"/>
          </a:xfrm>
          <a:prstGeom prst="downArrow">
            <a:avLst/>
          </a:prstGeom>
          <a:solidFill>
            <a:srgbClr val="C25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9352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14" name="TextBox 13"/>
          <p:cNvSpPr txBox="1"/>
          <p:nvPr/>
        </p:nvSpPr>
        <p:spPr>
          <a:xfrm>
            <a:off x="2488870" y="3684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CONCLUSION</a:t>
            </a:r>
          </a:p>
        </p:txBody>
      </p:sp>
      <p:sp>
        <p:nvSpPr>
          <p:cNvPr id="15" name="TextBox 14"/>
          <p:cNvSpPr txBox="1"/>
          <p:nvPr/>
        </p:nvSpPr>
        <p:spPr>
          <a:xfrm>
            <a:off x="777240" y="1116960"/>
            <a:ext cx="8412480" cy="5191165"/>
          </a:xfrm>
          <a:prstGeom prst="rect">
            <a:avLst/>
          </a:prstGeom>
          <a:noFill/>
        </p:spPr>
        <p:txBody>
          <a:bodyPr wrap="square">
            <a:spAutoFit/>
          </a:bodyPr>
          <a:lstStyle/>
          <a:p>
            <a:pPr marL="457200" indent="-457200" algn="l">
              <a:spcAft>
                <a:spcPts val="700"/>
              </a:spcAft>
              <a:buFont typeface="Arial" panose="020B0604020202020204" pitchFamily="34" charset="0"/>
              <a:buChar char="•"/>
              <a:defRPr sz="2000" b="0">
                <a:solidFill>
                  <a:srgbClr val="2D2D2D"/>
                </a:solidFill>
                <a:latin typeface="Aptos"/>
              </a:defRPr>
            </a:pPr>
            <a:r>
              <a:rPr lang="en-GB" sz="2800" dirty="0">
                <a:latin typeface="Times New Roman" panose="02020603050405020304" pitchFamily="18" charset="0"/>
                <a:cs typeface="Times New Roman" panose="02020603050405020304" pitchFamily="18" charset="0"/>
              </a:rPr>
              <a:t>This paper shows an entire process of performing data analysis by applying Uber India data and the Python programming language. </a:t>
            </a:r>
          </a:p>
          <a:p>
            <a:pPr marL="457200" indent="-457200" algn="l">
              <a:spcAft>
                <a:spcPts val="700"/>
              </a:spcAft>
              <a:buFont typeface="Arial" panose="020B0604020202020204" pitchFamily="34" charset="0"/>
              <a:buChar char="•"/>
              <a:defRPr sz="2000" b="0">
                <a:solidFill>
                  <a:srgbClr val="2D2D2D"/>
                </a:solidFill>
                <a:latin typeface="Aptos"/>
              </a:defRPr>
            </a:pPr>
            <a:r>
              <a:rPr lang="en-GB" sz="2800" dirty="0">
                <a:latin typeface="Times New Roman" panose="02020603050405020304" pitchFamily="18" charset="0"/>
                <a:cs typeface="Times New Roman" panose="02020603050405020304" pitchFamily="18" charset="0"/>
              </a:rPr>
              <a:t>Data cleaning and preprocessing help to increase the accuracy of data analysis. </a:t>
            </a:r>
          </a:p>
          <a:p>
            <a:pPr marL="457200" indent="-457200" algn="l">
              <a:spcAft>
                <a:spcPts val="700"/>
              </a:spcAft>
              <a:buFont typeface="Arial" panose="020B0604020202020204" pitchFamily="34" charset="0"/>
              <a:buChar char="•"/>
              <a:defRPr sz="2000" b="0">
                <a:solidFill>
                  <a:srgbClr val="2D2D2D"/>
                </a:solidFill>
                <a:latin typeface="Aptos"/>
              </a:defRPr>
            </a:pPr>
            <a:r>
              <a:rPr lang="en-GB" sz="2800" dirty="0">
                <a:latin typeface="Times New Roman" panose="02020603050405020304" pitchFamily="18" charset="0"/>
                <a:cs typeface="Times New Roman" panose="02020603050405020304" pitchFamily="18" charset="0"/>
              </a:rPr>
              <a:t>Visualization makes it easy to identify ride trends, fares, distance, and other things. </a:t>
            </a:r>
          </a:p>
          <a:p>
            <a:pPr marL="457200" indent="-457200" algn="l">
              <a:spcAft>
                <a:spcPts val="700"/>
              </a:spcAft>
              <a:buFont typeface="Arial" panose="020B0604020202020204" pitchFamily="34" charset="0"/>
              <a:buChar char="•"/>
              <a:defRPr sz="2000" b="0">
                <a:solidFill>
                  <a:srgbClr val="2D2D2D"/>
                </a:solidFill>
                <a:latin typeface="Aptos"/>
              </a:defRPr>
            </a:pPr>
            <a:r>
              <a:rPr lang="en-GB" sz="2800" dirty="0">
                <a:latin typeface="Times New Roman" panose="02020603050405020304" pitchFamily="18" charset="0"/>
                <a:cs typeface="Times New Roman" panose="02020603050405020304" pitchFamily="18" charset="0"/>
              </a:rPr>
              <a:t>In short, data analysis helps to derive insight from raw Uber data.</a:t>
            </a:r>
          </a:p>
          <a:p>
            <a:pPr marL="457200" indent="-457200" algn="l">
              <a:spcAft>
                <a:spcPts val="700"/>
              </a:spcAft>
              <a:buFont typeface="Arial" panose="020B0604020202020204" pitchFamily="34" charset="0"/>
              <a:buChar char="•"/>
              <a:defRPr sz="2000" b="0">
                <a:solidFill>
                  <a:srgbClr val="2D2D2D"/>
                </a:solidFill>
                <a:latin typeface="Aptos"/>
              </a:defRPr>
            </a:pPr>
            <a:r>
              <a:rPr lang="en-GB" sz="2800" dirty="0">
                <a:latin typeface="Times New Roman" panose="02020603050405020304" pitchFamily="18" charset="0"/>
                <a:cs typeface="Times New Roman" panose="02020603050405020304" pitchFamily="18" charset="0"/>
              </a:rPr>
              <a:t>Overall, Python-based EDA is an effective tool for analysing data.</a:t>
            </a:r>
          </a:p>
        </p:txBody>
      </p:sp>
    </p:spTree>
    <p:extLst>
      <p:ext uri="{BB962C8B-B14F-4D97-AF65-F5344CB8AC3E}">
        <p14:creationId xmlns:p14="http://schemas.microsoft.com/office/powerpoint/2010/main" val="2694192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58400" cy="7772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257302" y="2266230"/>
            <a:ext cx="7543800" cy="3132565"/>
          </a:xfrm>
          <a:prstGeom prst="rect">
            <a:avLst/>
          </a:prstGeom>
        </p:spPr>
        <p:txBody>
          <a:bodyPr vert="horz" lIns="91440" tIns="45720" rIns="91440" bIns="45720" rtlCol="0" anchor="ctr">
            <a:normAutofit/>
          </a:bodyPr>
          <a:lstStyle/>
          <a:p>
            <a:pPr algn="ctr" rtl="0">
              <a:lnSpc>
                <a:spcPct val="90000"/>
              </a:lnSpc>
              <a:spcBef>
                <a:spcPct val="0"/>
              </a:spcBef>
              <a:spcAft>
                <a:spcPts val="700"/>
              </a:spcAft>
              <a:defRPr sz="3400" b="1">
                <a:solidFill>
                  <a:srgbClr val="233464"/>
                </a:solidFill>
                <a:latin typeface="Aptos"/>
              </a:defRPr>
            </a:pPr>
            <a:r>
              <a:rPr lang="en-US" sz="3600" kern="1200" dirty="0">
                <a:solidFill>
                  <a:schemeClr val="tx1"/>
                </a:solidFill>
                <a:latin typeface="Times New Roman" pitchFamily="18" charset="0"/>
                <a:ea typeface="+mj-ea"/>
                <a:cs typeface="Times New Roman" pitchFamily="18" charset="0"/>
              </a:rPr>
              <a:t>THANK YOU</a:t>
            </a:r>
          </a:p>
        </p:txBody>
      </p:sp>
      <p:sp>
        <p:nvSpPr>
          <p:cNvPr id="26" name="Rectangle 25">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67812" y="6261424"/>
            <a:ext cx="3922776" cy="310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object 3">
            <a:extLst>
              <a:ext uri="{FF2B5EF4-FFF2-40B4-BE49-F238E27FC236}">
                <a16:creationId xmlns:a16="http://schemas.microsoft.com/office/drawing/2014/main" id="{A36E30A8-BD1B-0058-4620-F390351DADBD}"/>
              </a:ext>
            </a:extLst>
          </p:cNvPr>
          <p:cNvPicPr/>
          <p:nvPr/>
        </p:nvPicPr>
        <p:blipFill>
          <a:blip r:embed="rId3"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3281</TotalTime>
  <Words>1154</Words>
  <Application>Microsoft Office PowerPoint</Application>
  <PresentationFormat>Custom</PresentationFormat>
  <Paragraphs>162</Paragraphs>
  <Slides>18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Palatino Linotype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Malcom Mathela</cp:lastModifiedBy>
  <cp:revision>110</cp:revision>
  <cp:lastPrinted>2025-10-14T18:21:49Z</cp:lastPrinted>
  <dcterms:created xsi:type="dcterms:W3CDTF">2025-10-10T08:28:06Z</dcterms:created>
  <dcterms:modified xsi:type="dcterms:W3CDTF">2026-09-27T18:14:43Z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