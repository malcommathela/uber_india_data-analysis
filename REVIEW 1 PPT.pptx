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256" r:id="rId2"/>
    <p:sldId id="427" r:id="rId3"/>
    <p:sldId id="428" r:id="rId4"/>
    <p:sldId id="436" r:id="rId5"/>
    <p:sldId id="429" r:id="rId6"/>
    <p:sldId id="434" r:id="rId7"/>
    <p:sldId id="432" r:id="rId8"/>
    <p:sldId id="433" r:id="rId9"/>
    <p:sldId id="29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8EB4CA-1C65-4743-AAB5-D9E469D4DBB9}">
          <p14:sldIdLst>
            <p14:sldId id="256"/>
          </p14:sldIdLst>
        </p14:section>
        <p14:section name="Untitled Section" id="{E767EBFD-7A80-4318-A534-CA1EE1EFBC8A}">
          <p14:sldIdLst>
            <p14:sldId id="427"/>
            <p14:sldId id="428"/>
            <p14:sldId id="436"/>
            <p14:sldId id="429"/>
            <p14:sldId id="434"/>
            <p14:sldId id="432"/>
            <p14:sldId id="433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F101C1-E679-8A0F-4A8E-1B959C406192}" name="konduru jyoshana" initials="kj" userId="konduru jyoshan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50" autoAdjust="0"/>
    <p:restoredTop sz="94624" autoAdjust="0"/>
  </p:normalViewPr>
  <p:slideViewPr>
    <p:cSldViewPr>
      <p:cViewPr varScale="1">
        <p:scale>
          <a:sx n="78" d="100"/>
          <a:sy n="78" d="100"/>
        </p:scale>
        <p:origin x="64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10-08-2026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10-08-2026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10-08-2026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nilrohan/uber-data-india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 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</a:b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E1C7A-6C0F-1E70-EC9F-1897C092DFF3}"/>
              </a:ext>
            </a:extLst>
          </p:cNvPr>
          <p:cNvSpPr txBox="1"/>
          <p:nvPr/>
        </p:nvSpPr>
        <p:spPr>
          <a:xfrm>
            <a:off x="1249309" y="2139727"/>
            <a:ext cx="9405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i="1" dirty="0">
                <a:solidFill>
                  <a:srgbClr val="0070C0"/>
                </a:solidFill>
              </a:rPr>
              <a:t>UBER INDIA RIDE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389E1D-C2AB-F603-3CA3-87DB4BF1C1AA}"/>
              </a:ext>
            </a:extLst>
          </p:cNvPr>
          <p:cNvSpPr txBox="1"/>
          <p:nvPr/>
        </p:nvSpPr>
        <p:spPr>
          <a:xfrm>
            <a:off x="4698301" y="3573994"/>
            <a:ext cx="26716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</a:t>
            </a:r>
            <a:r>
              <a:rPr lang="en-IN" sz="2800" b="1" dirty="0">
                <a:solidFill>
                  <a:srgbClr val="FF0000"/>
                </a:solidFill>
              </a:rPr>
              <a:t>RESENTED BY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13753-4CA3-3666-9E10-533F5C1CA7E2}"/>
              </a:ext>
            </a:extLst>
          </p:cNvPr>
          <p:cNvSpPr txBox="1"/>
          <p:nvPr/>
        </p:nvSpPr>
        <p:spPr>
          <a:xfrm>
            <a:off x="3791744" y="4686223"/>
            <a:ext cx="432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25B11CSA68 - MALCOM MATHELA</a:t>
            </a:r>
          </a:p>
          <a:p>
            <a:r>
              <a:rPr lang="en-GB" dirty="0"/>
              <a:t>25B11CS353 - TIRUPATHI JEEVANA SRUTHI</a:t>
            </a:r>
          </a:p>
          <a:p>
            <a:r>
              <a:rPr lang="en-GB" dirty="0"/>
              <a:t>25B11CSA73 - SHYLENE NHONGO</a:t>
            </a:r>
          </a:p>
          <a:p>
            <a:r>
              <a:rPr lang="en-GB" dirty="0"/>
              <a:t>25B11CS672 - N.VENKATA.SAI.CHARAN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F5DD7-D7CA-A9ED-4AF9-D47C3F3F5BB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16960E-FF80-6453-1FC3-07EC8908971C}"/>
              </a:ext>
            </a:extLst>
          </p:cNvPr>
          <p:cNvSpPr txBox="1"/>
          <p:nvPr/>
        </p:nvSpPr>
        <p:spPr>
          <a:xfrm>
            <a:off x="3854267" y="836712"/>
            <a:ext cx="46900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2"/>
                </a:solidFill>
              </a:rPr>
              <a:t>Problem Statement</a:t>
            </a:r>
          </a:p>
          <a:p>
            <a:endParaRPr lang="en-IN" sz="4000" b="1" u="sng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C91B0-5DDA-9B30-8256-B94AF720EAE9}"/>
              </a:ext>
            </a:extLst>
          </p:cNvPr>
          <p:cNvSpPr txBox="1"/>
          <p:nvPr/>
        </p:nvSpPr>
        <p:spPr>
          <a:xfrm>
            <a:off x="728228" y="1772816"/>
            <a:ext cx="107355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GB" sz="2800" dirty="0"/>
              <a:t>Ride-hailing platforms face critical operational challenges in India — high cancellation rates, inefficient fleet allocation, and inconsistent customer experiences directly impact revenue.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GB" sz="2800" dirty="0"/>
              <a:t>This project analyses 150,000 Uber ride bookings from India (2024) to identify root causes of cancellations, discover high-demand periods, and evaluate vehicle category performance.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GB" sz="2800" dirty="0"/>
              <a:t>Core Question: What factors drive ride cancellations and how can data analytics optimize fleet allocation?</a:t>
            </a:r>
          </a:p>
        </p:txBody>
      </p:sp>
    </p:spTree>
    <p:extLst>
      <p:ext uri="{BB962C8B-B14F-4D97-AF65-F5344CB8AC3E}">
        <p14:creationId xmlns:p14="http://schemas.microsoft.com/office/powerpoint/2010/main" val="328166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6336D-A041-F821-887A-837462521AD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383B4-CB5F-D1AB-C9E1-9090856A1D8B}"/>
              </a:ext>
            </a:extLst>
          </p:cNvPr>
          <p:cNvSpPr txBox="1"/>
          <p:nvPr/>
        </p:nvSpPr>
        <p:spPr>
          <a:xfrm>
            <a:off x="4367808" y="188640"/>
            <a:ext cx="4667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2"/>
                </a:solidFill>
              </a:rPr>
              <a:t>Objectives</a:t>
            </a:r>
            <a:endParaRPr lang="en-IN" sz="4800" b="1" u="sng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7936E-5339-5AC2-233A-0CFE6B108E1A}"/>
              </a:ext>
            </a:extLst>
          </p:cNvPr>
          <p:cNvSpPr txBox="1"/>
          <p:nvPr/>
        </p:nvSpPr>
        <p:spPr>
          <a:xfrm>
            <a:off x="323845" y="1095448"/>
            <a:ext cx="11544309" cy="5626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Preparation &amp; Quality Assurance — Clean 150K records, handle missing values, engineer features.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Exploratory Data Analysis — Analyse booking trends (daily, monthly, hourly, weekday vs weekend).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Cancellation Analysis — Calculate rates, compare customer vs driver cancellations, identify reasons.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Revenue &amp; Performance Analysis — Determine highest-revenue vehicle types and payment methods.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Rating &amp; Customer Satisfaction Analysis — Analyse driver/customer ratings across vehicle types.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Operational Efficiency Analysis — Compute VTAT, CTAT, ride distances, and fleet allocation insights.</a:t>
            </a:r>
          </a:p>
        </p:txBody>
      </p:sp>
    </p:spTree>
    <p:extLst>
      <p:ext uri="{BB962C8B-B14F-4D97-AF65-F5344CB8AC3E}">
        <p14:creationId xmlns:p14="http://schemas.microsoft.com/office/powerpoint/2010/main" val="376286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1AB9E-84E4-0103-8AE8-CA6B2F1E98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52663-1FC0-84CE-CB89-060642ED1F25}"/>
              </a:ext>
            </a:extLst>
          </p:cNvPr>
          <p:cNvSpPr txBox="1"/>
          <p:nvPr/>
        </p:nvSpPr>
        <p:spPr>
          <a:xfrm>
            <a:off x="4367808" y="376797"/>
            <a:ext cx="4346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2"/>
                </a:solidFill>
              </a:rPr>
              <a:t>DATASET DETAILS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A51B7C-9F34-1A4A-6E54-7D92E972E26C}"/>
              </a:ext>
            </a:extLst>
          </p:cNvPr>
          <p:cNvSpPr txBox="1"/>
          <p:nvPr/>
        </p:nvSpPr>
        <p:spPr>
          <a:xfrm>
            <a:off x="695400" y="1084683"/>
            <a:ext cx="11150036" cy="483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/>
              <a:t>Source: Uber Data India (2024) — Kaggle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/>
              <a:t>Total Records: 150,000 ride bookings covering full year 2024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/>
              <a:t>Columns: 21 key attributes including Date/Time, Booking Status, Vehicle Type, Pickup/Drop Location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/>
              <a:t>Key Metrics: </a:t>
            </a:r>
            <a:r>
              <a:rPr lang="en-IN" sz="2600" dirty="0" err="1"/>
              <a:t>Avg</a:t>
            </a:r>
            <a:r>
              <a:rPr lang="en-IN" sz="2600" dirty="0"/>
              <a:t> VTAT (driver arrival), </a:t>
            </a:r>
            <a:r>
              <a:rPr lang="en-IN" sz="2600" dirty="0" err="1"/>
              <a:t>Avg</a:t>
            </a:r>
            <a:r>
              <a:rPr lang="en-IN" sz="2600" dirty="0"/>
              <a:t> CTAT (trip duration), Booking Value, Ride Distance, Driver/Customer Ratings (1-5), Payment Method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/>
              <a:t>Vehicle Types: Auto, Bike, Go Mini, Go Sedan, Premier Sedan, Uber XL, </a:t>
            </a:r>
            <a:r>
              <a:rPr lang="en-IN" sz="2600" dirty="0" err="1"/>
              <a:t>eBike</a:t>
            </a:r>
            <a:endParaRPr lang="en-IN" sz="26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/>
              <a:t>Payment Methods: Cash, UPI, Credit/Debit Card, Uber Wallet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F3912-56C7-B4E0-6BC6-6F3C23B75F11}"/>
              </a:ext>
            </a:extLst>
          </p:cNvPr>
          <p:cNvSpPr txBox="1"/>
          <p:nvPr/>
        </p:nvSpPr>
        <p:spPr>
          <a:xfrm>
            <a:off x="2279576" y="6062958"/>
            <a:ext cx="111500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dirty="0"/>
              <a:t>➤ Source link : </a:t>
            </a:r>
            <a:r>
              <a:rPr lang="en-GB" sz="2800" dirty="0">
                <a:hlinkClick r:id="rId2"/>
              </a:rPr>
              <a:t>Uber Data India </a:t>
            </a:r>
            <a:r>
              <a:rPr lang="en-IN" sz="2600" dirty="0"/>
              <a:t>(From Kaggle.com)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252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75C84-FA52-DCD0-3FF0-A75E0BDAC2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FF5AD-6936-5736-59DB-AD2D1EE24293}"/>
              </a:ext>
            </a:extLst>
          </p:cNvPr>
          <p:cNvSpPr txBox="1"/>
          <p:nvPr/>
        </p:nvSpPr>
        <p:spPr>
          <a:xfrm>
            <a:off x="3275489" y="692696"/>
            <a:ext cx="6433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/>
                </a:solidFill>
              </a:rPr>
              <a:t>System Requirements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1482B-868B-2F9A-3078-2F7E46C9D29A}"/>
              </a:ext>
            </a:extLst>
          </p:cNvPr>
          <p:cNvSpPr txBox="1"/>
          <p:nvPr/>
        </p:nvSpPr>
        <p:spPr>
          <a:xfrm>
            <a:off x="6797027" y="1772816"/>
            <a:ext cx="518457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Software Requirements</a:t>
            </a:r>
          </a:p>
          <a:p>
            <a:endParaRPr lang="en-IN" sz="2400" dirty="0"/>
          </a:p>
          <a:p>
            <a:r>
              <a:rPr lang="en-IN" sz="2400" dirty="0"/>
              <a:t>• OS: Windows 10/11, macOS, or Linux</a:t>
            </a:r>
          </a:p>
          <a:p>
            <a:r>
              <a:rPr lang="en-IN" sz="2400" dirty="0"/>
              <a:t>• IDE: PyCharm Professional</a:t>
            </a:r>
          </a:p>
          <a:p>
            <a:r>
              <a:rPr lang="en-IN" sz="2400" dirty="0"/>
              <a:t>• Python 3.14 with </a:t>
            </a:r>
            <a:r>
              <a:rPr lang="en-IN" sz="2400" dirty="0" err="1"/>
              <a:t>venv</a:t>
            </a:r>
            <a:endParaRPr lang="en-IN" sz="2400" dirty="0"/>
          </a:p>
          <a:p>
            <a:r>
              <a:rPr lang="en-IN" sz="2400" dirty="0"/>
              <a:t>• Jupyter Notebooks via PyCharm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35BC08-14E5-F247-F968-99E1F8EFC728}"/>
              </a:ext>
            </a:extLst>
          </p:cNvPr>
          <p:cNvSpPr txBox="1"/>
          <p:nvPr/>
        </p:nvSpPr>
        <p:spPr>
          <a:xfrm>
            <a:off x="210397" y="1772816"/>
            <a:ext cx="643311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Hardware Requirements</a:t>
            </a:r>
          </a:p>
          <a:p>
            <a:endParaRPr lang="en-IN" sz="2400" dirty="0"/>
          </a:p>
          <a:p>
            <a:r>
              <a:rPr lang="en-IN" sz="2400" dirty="0"/>
              <a:t>• Processor: Intel Core i3 / AMD </a:t>
            </a:r>
            <a:r>
              <a:rPr lang="en-IN" sz="2400" dirty="0" err="1"/>
              <a:t>Ryzen</a:t>
            </a:r>
            <a:r>
              <a:rPr lang="en-IN" sz="2400" dirty="0"/>
              <a:t> 3 or higher</a:t>
            </a:r>
          </a:p>
          <a:p>
            <a:r>
              <a:rPr lang="en-IN" sz="2400" dirty="0"/>
              <a:t>• RAM: Minimum 4 GB (8 GB Recommended)</a:t>
            </a:r>
          </a:p>
          <a:p>
            <a:r>
              <a:rPr lang="en-IN" sz="2400" dirty="0"/>
              <a:t>• Storage: At least 2 GB free disk space</a:t>
            </a:r>
          </a:p>
          <a:p>
            <a:r>
              <a:rPr lang="en-IN" sz="2400" dirty="0"/>
              <a:t>• Internet: Stable internet connection</a:t>
            </a:r>
          </a:p>
        </p:txBody>
      </p:sp>
    </p:spTree>
    <p:extLst>
      <p:ext uri="{BB962C8B-B14F-4D97-AF65-F5344CB8AC3E}">
        <p14:creationId xmlns:p14="http://schemas.microsoft.com/office/powerpoint/2010/main" val="198732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9F4981-8233-4746-26D9-2E9435976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07" y="1272568"/>
            <a:ext cx="10515600" cy="53087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IN" sz="3300" dirty="0"/>
              <a:t>Data Manipulation: pandas, NumPy — efficient handling of 150K records</a:t>
            </a:r>
          </a:p>
          <a:p>
            <a:pPr>
              <a:lnSpc>
                <a:spcPct val="150000"/>
              </a:lnSpc>
            </a:pPr>
            <a:r>
              <a:rPr lang="en-IN" sz="3300" dirty="0"/>
              <a:t>Visualization: matplotlib, seaborn — publication-quality charts</a:t>
            </a:r>
          </a:p>
          <a:p>
            <a:pPr>
              <a:lnSpc>
                <a:spcPct val="150000"/>
              </a:lnSpc>
            </a:pPr>
            <a:r>
              <a:rPr lang="en-IN" sz="3300" dirty="0"/>
              <a:t>Statistics: </a:t>
            </a:r>
            <a:r>
              <a:rPr lang="en-IN" sz="3300" dirty="0" err="1"/>
              <a:t>scipy</a:t>
            </a:r>
            <a:r>
              <a:rPr lang="en-IN" sz="3300" dirty="0"/>
              <a:t>, </a:t>
            </a:r>
            <a:r>
              <a:rPr lang="en-IN" sz="3300" dirty="0" err="1"/>
              <a:t>statsmodels</a:t>
            </a:r>
            <a:r>
              <a:rPr lang="en-IN" sz="3300" dirty="0"/>
              <a:t> — statistical testing and modelling</a:t>
            </a:r>
          </a:p>
          <a:p>
            <a:pPr>
              <a:lnSpc>
                <a:spcPct val="150000"/>
              </a:lnSpc>
            </a:pPr>
            <a:r>
              <a:rPr lang="en-IN" sz="3300" dirty="0"/>
              <a:t>Environment: </a:t>
            </a:r>
            <a:r>
              <a:rPr lang="en-IN" sz="3300" dirty="0" err="1"/>
              <a:t>venv</a:t>
            </a:r>
            <a:r>
              <a:rPr lang="en-IN" sz="3300" dirty="0"/>
              <a:t> (virtual environment) — dependency isolation</a:t>
            </a:r>
          </a:p>
          <a:p>
            <a:pPr>
              <a:lnSpc>
                <a:spcPct val="150000"/>
              </a:lnSpc>
            </a:pPr>
            <a:r>
              <a:rPr lang="en-IN" sz="3300" dirty="0"/>
              <a:t>Notebooks: Jupyter via PyCharm — seamless notebook integration</a:t>
            </a:r>
          </a:p>
          <a:p>
            <a:pPr>
              <a:lnSpc>
                <a:spcPct val="150000"/>
              </a:lnSpc>
            </a:pPr>
            <a:r>
              <a:rPr lang="en-IN" sz="3300" dirty="0"/>
              <a:t>Why this stack? Scalable, reproducible, and industry-standard for data analytics workflows.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7B927-01AE-A80D-4ED5-8520966976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13B07-B25B-CD53-64F0-EC8524D0BE5F}"/>
              </a:ext>
            </a:extLst>
          </p:cNvPr>
          <p:cNvSpPr txBox="1"/>
          <p:nvPr/>
        </p:nvSpPr>
        <p:spPr>
          <a:xfrm>
            <a:off x="3287688" y="260648"/>
            <a:ext cx="60894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200" b="1" dirty="0">
                <a:solidFill>
                  <a:schemeClr val="accent2"/>
                </a:solidFill>
              </a:rPr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297099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CA1A4-C9FA-E534-A46A-30393566C4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910BC-AC33-D2FA-F9D7-1313B995845E}"/>
              </a:ext>
            </a:extLst>
          </p:cNvPr>
          <p:cNvSpPr txBox="1"/>
          <p:nvPr/>
        </p:nvSpPr>
        <p:spPr>
          <a:xfrm>
            <a:off x="2545882" y="332656"/>
            <a:ext cx="71002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/>
                </a:solidFill>
              </a:rPr>
              <a:t>Future Enhancements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5A26B-B54D-332D-AA0B-9BE05BF38090}"/>
              </a:ext>
            </a:extLst>
          </p:cNvPr>
          <p:cNvSpPr txBox="1"/>
          <p:nvPr/>
        </p:nvSpPr>
        <p:spPr>
          <a:xfrm>
            <a:off x="479377" y="1309574"/>
            <a:ext cx="11335284" cy="545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Deep-dive cancellation analysis — temporal patterns and location-based cancellation hotspots.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Revenue forecasting — time-series analysis of booking trends.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Rating correlation analysis — link ratings to cancellation rates and ride distances.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Predictive modelling — build cancellation prediction model (Random Forest / Logistic Regression).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Interactive dashboard — </a:t>
            </a:r>
            <a:r>
              <a:rPr lang="en-GB" sz="2400" dirty="0" err="1"/>
              <a:t>Streamlit</a:t>
            </a:r>
            <a:r>
              <a:rPr lang="en-GB" sz="2400" dirty="0"/>
              <a:t> / </a:t>
            </a:r>
            <a:r>
              <a:rPr lang="en-GB" sz="2400" dirty="0" err="1"/>
              <a:t>Plotly</a:t>
            </a:r>
            <a:r>
              <a:rPr lang="en-GB" sz="2400" dirty="0"/>
              <a:t> Dash with filters for vehicle type, time, and location.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Final strategic report — actionable recommendations for Uber India operations.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23410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BB70B-0A5A-BD0E-65D9-D46FA255F4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FB652-B75D-EE74-3C9C-AA9E0C1AC5DE}"/>
              </a:ext>
            </a:extLst>
          </p:cNvPr>
          <p:cNvSpPr txBox="1"/>
          <p:nvPr/>
        </p:nvSpPr>
        <p:spPr>
          <a:xfrm>
            <a:off x="4274511" y="315426"/>
            <a:ext cx="3642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C3ABF-6F3E-CA27-51EB-D877BABFB3BB}"/>
              </a:ext>
            </a:extLst>
          </p:cNvPr>
          <p:cNvSpPr txBox="1"/>
          <p:nvPr/>
        </p:nvSpPr>
        <p:spPr>
          <a:xfrm>
            <a:off x="600723" y="1146423"/>
            <a:ext cx="10765195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Successfully analysed 150,000 Uber India ride bookings using Python and data analytics techniques.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Built a complete data pipeline: ingestion → cleaning → feature engineering → analysis → visualization.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Identified a critical 25% cancellation rate driven primarily by driver-side issues (72%).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Uncovered key operational insights on peak demand, revenue distribution, and customer satisfaction.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Demonstrated how data analytics converts raw booking data into actionable business intelligence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786454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271464" y="2276872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7080</TotalTime>
  <Words>622</Words>
  <Application>Microsoft Office PowerPoint</Application>
  <PresentationFormat>Widescreen</PresentationFormat>
  <Paragraphs>71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Maiandra GD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Malcom Mathela</cp:lastModifiedBy>
  <cp:revision>724</cp:revision>
  <cp:lastPrinted>2023-06-09T04:58:36Z</cp:lastPrinted>
  <dcterms:created xsi:type="dcterms:W3CDTF">2019-12-14T03:50:52Z</dcterms:created>
  <dcterms:modified xsi:type="dcterms:W3CDTF">2026-08-10T17:44:10Z</dcterms:modified>
</cp:coreProperties>
</file>